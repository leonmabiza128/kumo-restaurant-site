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7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397" r:id="rId12"/>
    <p:sldId id="398" r:id="rId13"/>
    <p:sldId id="399" r:id="rId14"/>
    <p:sldId id="400" r:id="rId15"/>
    <p:sldId id="401" r:id="rId16"/>
    <p:sldId id="402" r:id="rId17"/>
    <p:sldId id="403" r:id="rId18"/>
    <p:sldId id="404" r:id="rId19"/>
    <p:sldId id="405" r:id="rId20"/>
    <p:sldId id="406" r:id="rId21"/>
    <p:sldId id="407" r:id="rId22"/>
    <p:sldId id="408" r:id="rId23"/>
    <p:sldId id="409" r:id="rId24"/>
    <p:sldId id="410" r:id="rId25"/>
    <p:sldId id="411" r:id="rId26"/>
    <p:sldId id="412" r:id="rId27"/>
    <p:sldId id="413" r:id="rId28"/>
    <p:sldId id="414" r:id="rId29"/>
    <p:sldId id="415" r:id="rId30"/>
    <p:sldId id="281" r:id="rId6"/>
  </p:sldIdLst>
  <p:sldSz cx="13439775" cy="7559675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31" autoAdjust="0"/>
    <p:restoredTop sz="93934" autoAdjust="0"/>
  </p:normalViewPr>
  <p:slideViewPr>
    <p:cSldViewPr snapToGrid="0">
      <p:cViewPr varScale="1">
        <p:scale>
          <a:sx n="89" d="100"/>
          <a:sy n="89" d="100"/>
        </p:scale>
        <p:origin x="9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jpeg"/><Relationship Id="rId4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3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3.emf"/><Relationship Id="rId4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EA70F64-6E3E-F44E-9CD9-2FFF4A23237E}"/>
              </a:ext>
            </a:extLst>
          </p:cNvPr>
          <p:cNvSpPr/>
          <p:nvPr/>
        </p:nvSpPr>
        <p:spPr>
          <a:xfrm>
            <a:off x="5678890" y="0"/>
            <a:ext cx="7760886" cy="7559675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244374A-E2A0-E44C-AD28-401B9C1D6EA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741" t="7662" r="9234" b="5552"/>
          <a:stretch/>
        </p:blipFill>
        <p:spPr>
          <a:xfrm>
            <a:off x="5678889" y="0"/>
            <a:ext cx="7760887" cy="755967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1F0F03C-9B10-764E-9232-B914070E3871}"/>
              </a:ext>
            </a:extLst>
          </p:cNvPr>
          <p:cNvGrpSpPr/>
          <p:nvPr/>
        </p:nvGrpSpPr>
        <p:grpSpPr>
          <a:xfrm>
            <a:off x="0" y="0"/>
            <a:ext cx="5678889" cy="7559675"/>
            <a:chOff x="-225599" y="0"/>
            <a:chExt cx="4845713" cy="6450729"/>
          </a:xfrm>
        </p:grpSpPr>
        <p:pic>
          <p:nvPicPr>
            <p:cNvPr id="8" name="object 3">
              <a:extLst>
                <a:ext uri="{FF2B5EF4-FFF2-40B4-BE49-F238E27FC236}">
                  <a16:creationId xmlns:a16="http://schemas.microsoft.com/office/drawing/2014/main" id="{D06F49C2-F20A-6B4F-8D34-F11A39CE45BF}"/>
                </a:ext>
              </a:extLst>
            </p:cNvPr>
            <p:cNvPicPr/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225599" y="0"/>
              <a:ext cx="4845713" cy="645072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DF54A5A-5DCA-FC40-B508-A52C73FC6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29150" y="757709"/>
              <a:ext cx="438259" cy="40705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5CACD8D-F28A-EC45-8260-D3C78DB97C0E}"/>
                </a:ext>
              </a:extLst>
            </p:cNvPr>
            <p:cNvSpPr/>
            <p:nvPr/>
          </p:nvSpPr>
          <p:spPr>
            <a:xfrm>
              <a:off x="3305060" y="815248"/>
              <a:ext cx="286439" cy="293698"/>
            </a:xfrm>
            <a:prstGeom prst="rect">
              <a:avLst/>
            </a:prstGeom>
            <a:solidFill>
              <a:srgbClr val="3F43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84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BE4C21D-B6D4-104D-9484-82F4C7BEA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18237" y="879174"/>
              <a:ext cx="247385" cy="229772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F2F4B6-EA6A-304A-8D2B-A523645BC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370" y="2252965"/>
            <a:ext cx="3918717" cy="263188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646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B4992F-63E0-F140-8674-2E1BBCC2D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370" y="4986348"/>
            <a:ext cx="3918717" cy="1825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764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EF16C-E8C3-CBDC-09B4-24AEB31F91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CFCA2-7258-AB48-559A-B10823D5DE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</p:spPr>
        <p:txBody>
          <a:bodyPr/>
          <a:lstStyle/>
          <a:p>
            <a:fld id="{814CB291-45E4-BD43-ACFB-6AA0D715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217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423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06F7A2-D446-9744-99FF-EA7B95B4B8FF}"/>
              </a:ext>
            </a:extLst>
          </p:cNvPr>
          <p:cNvSpPr/>
          <p:nvPr/>
        </p:nvSpPr>
        <p:spPr>
          <a:xfrm>
            <a:off x="0" y="11577"/>
            <a:ext cx="13439775" cy="7559676"/>
          </a:xfrm>
          <a:prstGeom prst="rect">
            <a:avLst/>
          </a:prstGeom>
          <a:solidFill>
            <a:srgbClr val="414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63">
              <a:solidFill>
                <a:srgbClr val="414244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C9A941-297F-C547-A99D-F5F7F94F32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Brand Leadership 2022</a:t>
            </a:r>
          </a:p>
          <a:p>
            <a:r>
              <a:rPr lang="en-US"/>
              <a:t>
© Brand Leadership 2022</a:t>
            </a:r>
          </a:p>
          <a:p>
            <a:r>
              <a:rPr lang="en-US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CDEC5-5B30-2547-9D00-2AD6BDC1C5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14CB291-45E4-BD43-ACFB-6AA0D715F8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D4F091-C990-4B49-A2EB-E39F93E3887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18395" y="204744"/>
            <a:ext cx="666588" cy="60621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D678D8D-BFC0-B649-B95F-E8B70AF35142}"/>
              </a:ext>
            </a:extLst>
          </p:cNvPr>
          <p:cNvSpPr/>
          <p:nvPr/>
        </p:nvSpPr>
        <p:spPr>
          <a:xfrm>
            <a:off x="726668" y="2308477"/>
            <a:ext cx="2992598" cy="299259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4398" tIns="67199" rIns="134398" bIns="6719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0" b="1">
              <a:solidFill>
                <a:schemeClr val="tx1">
                  <a:lumMod val="75000"/>
                  <a:lumOff val="25000"/>
                </a:schemeClr>
              </a:solidFill>
              <a:latin typeface="Helvetica Neue"/>
              <a:cs typeface="Helvetica Neue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7C36E8-4DBB-E346-95B7-8F86372F0BB0}"/>
              </a:ext>
            </a:extLst>
          </p:cNvPr>
          <p:cNvSpPr/>
          <p:nvPr/>
        </p:nvSpPr>
        <p:spPr>
          <a:xfrm>
            <a:off x="3966652" y="2308477"/>
            <a:ext cx="8122429" cy="299259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4398" tIns="67199" rIns="134398" bIns="6719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283" b="1">
              <a:solidFill>
                <a:schemeClr val="tx1">
                  <a:lumMod val="75000"/>
                  <a:lumOff val="25000"/>
                </a:schemeClr>
              </a:solidFill>
              <a:latin typeface="Helvetica Neue"/>
              <a:cs typeface="Helvetica Neue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B530BC1-AF45-6149-976D-B57B304275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37463" y="2430966"/>
            <a:ext cx="7504771" cy="27208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800" b="1">
                <a:solidFill>
                  <a:schemeClr val="bg1"/>
                </a:solidFill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F03E02D-4BB6-A041-A472-4272C759DA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4829" y="2430966"/>
            <a:ext cx="2992599" cy="272089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0000" b="1">
                <a:solidFill>
                  <a:srgbClr val="414244"/>
                </a:solidFill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2144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41F06F-4995-0949-9DD6-4859AA86A5AC}"/>
              </a:ext>
            </a:extLst>
          </p:cNvPr>
          <p:cNvSpPr/>
          <p:nvPr/>
        </p:nvSpPr>
        <p:spPr>
          <a:xfrm>
            <a:off x="0" y="-106363"/>
            <a:ext cx="13645198" cy="77724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63">
              <a:latin typeface="Corbel" panose="020B0503020204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0DA805-2C52-FC4A-A5F6-F2C6FBB3164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18395" y="204744"/>
            <a:ext cx="666588" cy="60621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FAB9535-A1ED-93AE-2827-6EBC1ED03691}"/>
              </a:ext>
            </a:extLst>
          </p:cNvPr>
          <p:cNvCxnSpPr>
            <a:cxnSpLocks/>
          </p:cNvCxnSpPr>
          <p:nvPr userDrawn="1"/>
        </p:nvCxnSpPr>
        <p:spPr>
          <a:xfrm>
            <a:off x="498764" y="1126156"/>
            <a:ext cx="1251659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9599EF1-ABA4-8489-2612-6023E9BF8B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8475" y="850387"/>
            <a:ext cx="12017375" cy="3143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i="1">
                <a:solidFill>
                  <a:schemeClr val="bg1"/>
                </a:solidFill>
                <a:latin typeface="Corbel" panose="020B0503020204020204" pitchFamily="34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0F9271D-922A-71D1-124B-0093720C7503}"/>
              </a:ext>
            </a:extLst>
          </p:cNvPr>
          <p:cNvSpPr txBox="1">
            <a:spLocks/>
          </p:cNvSpPr>
          <p:nvPr userDrawn="1"/>
        </p:nvSpPr>
        <p:spPr>
          <a:xfrm>
            <a:off x="498764" y="343334"/>
            <a:ext cx="12017027" cy="425289"/>
          </a:xfrm>
          <a:prstGeom prst="rect">
            <a:avLst/>
          </a:prstGeom>
        </p:spPr>
        <p:txBody>
          <a:bodyPr vert="horz" lIns="0" tIns="0" rIns="0" bIns="45720" rtlCol="0" anchor="ctr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r>
              <a:rPr lang="en-GB" sz="2800">
                <a:solidFill>
                  <a:schemeClr val="bg1"/>
                </a:solidFill>
              </a:rPr>
              <a:t>Click to edit Master title style</a:t>
            </a:r>
            <a:endParaRPr lang="en-US" sz="2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367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41F06F-4995-0949-9DD6-4859AA86A5AC}"/>
              </a:ext>
            </a:extLst>
          </p:cNvPr>
          <p:cNvSpPr/>
          <p:nvPr/>
        </p:nvSpPr>
        <p:spPr>
          <a:xfrm>
            <a:off x="1" y="1"/>
            <a:ext cx="13439775" cy="7559675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63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DB2172-49EC-4B45-8E1B-70E0D202D0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Brand Leadership 2022</a:t>
            </a:r>
          </a:p>
          <a:p>
            <a:r>
              <a:rPr lang="en-US"/>
              <a:t>
© Brand Leadership 2022</a:t>
            </a:r>
          </a:p>
          <a:p>
            <a:r>
              <a:rPr lang="en-US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406EB-98BD-1145-BEFD-737E6A90D8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14CB291-45E4-BD43-ACFB-6AA0D715F8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0F61EA-E5EA-F142-91F1-EE868D6057C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18395" y="204744"/>
            <a:ext cx="666588" cy="606215"/>
          </a:xfrm>
          <a:prstGeom prst="rect">
            <a:avLst/>
          </a:prstGeom>
        </p:spPr>
      </p:pic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73DA1BB-E91F-4B2B-A6A4-DB9CA34E67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8475" y="850387"/>
            <a:ext cx="12017375" cy="3143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i="1">
                <a:solidFill>
                  <a:schemeClr val="bg1"/>
                </a:solidFill>
                <a:latin typeface="Corbel" panose="020B0503020204020204" pitchFamily="34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C73EA5A-1B28-36F6-5143-3B5F9D062C8E}"/>
              </a:ext>
            </a:extLst>
          </p:cNvPr>
          <p:cNvSpPr txBox="1">
            <a:spLocks/>
          </p:cNvSpPr>
          <p:nvPr userDrawn="1"/>
        </p:nvSpPr>
        <p:spPr>
          <a:xfrm>
            <a:off x="498764" y="343334"/>
            <a:ext cx="12017027" cy="425289"/>
          </a:xfrm>
          <a:prstGeom prst="rect">
            <a:avLst/>
          </a:prstGeom>
        </p:spPr>
        <p:txBody>
          <a:bodyPr vert="horz" lIns="0" tIns="0" rIns="0" bIns="45720" rtlCol="0" anchor="ctr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r>
              <a:rPr lang="en-GB" sz="2800">
                <a:solidFill>
                  <a:schemeClr val="bg1"/>
                </a:solidFill>
              </a:rPr>
              <a:t>Click to edit Master title style</a:t>
            </a:r>
            <a:endParaRPr lang="en-US" sz="2800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09FDA6F-097C-0CD0-75F2-EBC7F7DA569F}"/>
              </a:ext>
            </a:extLst>
          </p:cNvPr>
          <p:cNvCxnSpPr>
            <a:cxnSpLocks/>
          </p:cNvCxnSpPr>
          <p:nvPr userDrawn="1"/>
        </p:nvCxnSpPr>
        <p:spPr>
          <a:xfrm>
            <a:off x="498764" y="1126156"/>
            <a:ext cx="1251659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258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C576716-C87C-5F4B-B7AD-9CC4DFE4BAE5}"/>
              </a:ext>
            </a:extLst>
          </p:cNvPr>
          <p:cNvSpPr/>
          <p:nvPr/>
        </p:nvSpPr>
        <p:spPr>
          <a:xfrm>
            <a:off x="4250724" y="980886"/>
            <a:ext cx="407773" cy="398830"/>
          </a:xfrm>
          <a:prstGeom prst="rect">
            <a:avLst/>
          </a:prstGeom>
          <a:solidFill>
            <a:srgbClr val="414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D066A-EFCE-44B3-8459-0F3D2F8748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6900" y="2226222"/>
            <a:ext cx="5714450" cy="480911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86">
                <a:solidFill>
                  <a:schemeClr val="bg1"/>
                </a:solidFill>
              </a:defRPr>
            </a:lvl1pPr>
            <a:lvl2pPr>
              <a:defRPr sz="3086">
                <a:solidFill>
                  <a:schemeClr val="bg1"/>
                </a:solidFill>
              </a:defRPr>
            </a:lvl2pPr>
            <a:lvl3pPr>
              <a:defRPr sz="3086">
                <a:solidFill>
                  <a:schemeClr val="bg1"/>
                </a:solidFill>
              </a:defRPr>
            </a:lvl3pPr>
            <a:lvl4pPr>
              <a:defRPr sz="3086">
                <a:solidFill>
                  <a:schemeClr val="bg1"/>
                </a:solidFill>
              </a:defRPr>
            </a:lvl4pPr>
            <a:lvl5pPr>
              <a:defRPr sz="3086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9BF207-9B6F-1841-B6BA-841D908FBF6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50724" y="1045665"/>
            <a:ext cx="289921" cy="26927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8FC319A-E02F-2547-8106-041B9326A3D5}"/>
              </a:ext>
            </a:extLst>
          </p:cNvPr>
          <p:cNvSpPr/>
          <p:nvPr/>
        </p:nvSpPr>
        <p:spPr>
          <a:xfrm>
            <a:off x="6719887" y="980886"/>
            <a:ext cx="5809864" cy="5809864"/>
          </a:xfrm>
          <a:prstGeom prst="rect">
            <a:avLst/>
          </a:prstGeom>
          <a:solidFill>
            <a:srgbClr val="414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2E9090-1B48-CC46-9047-3C70ED85976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8743" y="301087"/>
            <a:ext cx="7491032" cy="695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462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9A2B51F-7993-9A44-8076-4362AF9169F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18395" y="204744"/>
            <a:ext cx="666588" cy="60621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CE4450-1860-7F45-855B-C6D4E22A750F}"/>
              </a:ext>
            </a:extLst>
          </p:cNvPr>
          <p:cNvCxnSpPr>
            <a:cxnSpLocks/>
          </p:cNvCxnSpPr>
          <p:nvPr/>
        </p:nvCxnSpPr>
        <p:spPr>
          <a:xfrm>
            <a:off x="498764" y="6907576"/>
            <a:ext cx="125165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A4A6CA-7344-B149-944B-D489BF1E75E2}"/>
              </a:ext>
            </a:extLst>
          </p:cNvPr>
          <p:cNvCxnSpPr>
            <a:cxnSpLocks/>
          </p:cNvCxnSpPr>
          <p:nvPr/>
        </p:nvCxnSpPr>
        <p:spPr>
          <a:xfrm>
            <a:off x="498764" y="1126156"/>
            <a:ext cx="1251659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C7FF6BD9-3EE8-4672-6178-A6534DA2E7C0}"/>
              </a:ext>
            </a:extLst>
          </p:cNvPr>
          <p:cNvSpPr txBox="1">
            <a:spLocks/>
          </p:cNvSpPr>
          <p:nvPr/>
        </p:nvSpPr>
        <p:spPr>
          <a:xfrm>
            <a:off x="12824599" y="7046633"/>
            <a:ext cx="190757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4CB291-45E4-BD43-ACFB-6AA0D715F83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F07E4EC-CD99-3AC5-DAE9-62888A22058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98474" y="1424538"/>
            <a:ext cx="12516591" cy="507495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000" b="1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162592A-06FC-47D5-CAFD-F214A91073F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98474" y="2332748"/>
            <a:ext cx="12516591" cy="4435763"/>
          </a:xfrm>
          <a:prstGeom prst="rect">
            <a:avLst/>
          </a:prstGeom>
        </p:spPr>
        <p:txBody>
          <a:bodyPr anchor="t"/>
          <a:lstStyle>
            <a:lvl1pPr>
              <a:defRPr sz="18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sz="16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2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sz="12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129C6E-64FF-364D-BA39-3CBA3B731791}"/>
              </a:ext>
            </a:extLst>
          </p:cNvPr>
          <p:cNvCxnSpPr>
            <a:cxnSpLocks/>
          </p:cNvCxnSpPr>
          <p:nvPr/>
        </p:nvCxnSpPr>
        <p:spPr>
          <a:xfrm flipV="1">
            <a:off x="498475" y="1975939"/>
            <a:ext cx="12516591" cy="209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09135064-E165-9259-8DD7-E3B45C41A2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8475" y="7007225"/>
            <a:ext cx="1062038" cy="42862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Client logo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FBD6714-A9FE-C7A8-5D2D-56B55026AC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8475" y="850387"/>
            <a:ext cx="12017375" cy="3143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i="1">
                <a:latin typeface="Corbel" panose="020B0503020204020204" pitchFamily="34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1159BA4F-5AA4-2B51-F085-474A9608E5DB}"/>
              </a:ext>
            </a:extLst>
          </p:cNvPr>
          <p:cNvSpPr txBox="1">
            <a:spLocks/>
          </p:cNvSpPr>
          <p:nvPr/>
        </p:nvSpPr>
        <p:spPr>
          <a:xfrm>
            <a:off x="498764" y="343334"/>
            <a:ext cx="12017027" cy="425289"/>
          </a:xfrm>
          <a:prstGeom prst="rect">
            <a:avLst/>
          </a:prstGeom>
        </p:spPr>
        <p:txBody>
          <a:bodyPr vert="horz" lIns="0" tIns="0" rIns="0" bIns="45720" rtlCol="0" anchor="ctr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r>
              <a:rPr lang="en-GB" sz="2800"/>
              <a:t>Click to edit Master title style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025378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9A2B51F-7993-9A44-8076-4362AF9169F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18395" y="204744"/>
            <a:ext cx="666588" cy="60621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CE4450-1860-7F45-855B-C6D4E22A750F}"/>
              </a:ext>
            </a:extLst>
          </p:cNvPr>
          <p:cNvCxnSpPr>
            <a:cxnSpLocks/>
          </p:cNvCxnSpPr>
          <p:nvPr/>
        </p:nvCxnSpPr>
        <p:spPr>
          <a:xfrm>
            <a:off x="498764" y="6907576"/>
            <a:ext cx="125165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A4A6CA-7344-B149-944B-D489BF1E75E2}"/>
              </a:ext>
            </a:extLst>
          </p:cNvPr>
          <p:cNvCxnSpPr>
            <a:cxnSpLocks/>
          </p:cNvCxnSpPr>
          <p:nvPr/>
        </p:nvCxnSpPr>
        <p:spPr>
          <a:xfrm>
            <a:off x="498764" y="1126156"/>
            <a:ext cx="1251659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0A937E1-85DD-9FE6-8C76-90BC42A0CF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8475" y="802259"/>
            <a:ext cx="12017375" cy="3143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i="1">
                <a:latin typeface="Corbel" panose="020B0503020204020204" pitchFamily="34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C9E1FB95-64D6-3831-3C45-DBC217FC3C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8475" y="7007225"/>
            <a:ext cx="1062038" cy="42862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Client logo here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FEE05C11-0E43-ACD3-7733-85665A5178FB}"/>
              </a:ext>
            </a:extLst>
          </p:cNvPr>
          <p:cNvSpPr txBox="1">
            <a:spLocks/>
          </p:cNvSpPr>
          <p:nvPr/>
        </p:nvSpPr>
        <p:spPr>
          <a:xfrm>
            <a:off x="12824599" y="7046633"/>
            <a:ext cx="190757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4CB291-45E4-BD43-ACFB-6AA0D715F83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EB2E19F-D5AF-5EE6-A6B2-AB9C5F18A89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8475" y="289012"/>
            <a:ext cx="12017375" cy="425631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800" b="1">
                <a:latin typeface="Corbel" panose="020B0503020204020204" pitchFamily="34" charset="0"/>
              </a:defRPr>
            </a:lvl1pPr>
            <a:lvl2pPr>
              <a:defRPr sz="2800" b="1">
                <a:latin typeface="Corbel" panose="020B0503020204020204" pitchFamily="34" charset="0"/>
              </a:defRPr>
            </a:lvl2pPr>
            <a:lvl3pPr>
              <a:defRPr sz="2800" b="1">
                <a:latin typeface="Corbel" panose="020B0503020204020204" pitchFamily="34" charset="0"/>
              </a:defRPr>
            </a:lvl3pPr>
            <a:lvl4pPr>
              <a:defRPr sz="2800" b="1">
                <a:latin typeface="Corbel" panose="020B0503020204020204" pitchFamily="34" charset="0"/>
              </a:defRPr>
            </a:lvl4pPr>
            <a:lvl5pPr>
              <a:defRPr sz="2800" b="1"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5451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98475" y="1853171"/>
            <a:ext cx="6100410" cy="46468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200" b="1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98475" y="2761381"/>
            <a:ext cx="6100410" cy="4061576"/>
          </a:xfrm>
          <a:prstGeom prst="rect">
            <a:avLst/>
          </a:prstGeom>
        </p:spPr>
        <p:txBody>
          <a:bodyPr anchor="t"/>
          <a:lstStyle>
            <a:lvl1pPr>
              <a:defRPr sz="20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sz="18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sz="16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869929" y="1853171"/>
            <a:ext cx="6130454" cy="46468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200" b="1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869929" y="2761381"/>
            <a:ext cx="6130454" cy="4061576"/>
          </a:xfrm>
          <a:prstGeom prst="rect">
            <a:avLst/>
          </a:prstGeom>
        </p:spPr>
        <p:txBody>
          <a:bodyPr anchor="t"/>
          <a:lstStyle>
            <a:lvl1pPr>
              <a:defRPr sz="20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sz="18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sz="16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7828E2-3942-1044-AA6A-A8BA83248D77}"/>
              </a:ext>
            </a:extLst>
          </p:cNvPr>
          <p:cNvCxnSpPr/>
          <p:nvPr/>
        </p:nvCxnSpPr>
        <p:spPr>
          <a:xfrm>
            <a:off x="923923" y="6907576"/>
            <a:ext cx="115918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10A6D3E-5179-9645-B14A-93D701BE49B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18395" y="204744"/>
            <a:ext cx="666588" cy="606215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54FEF7CD-9CB3-3B60-B8A8-EFADDB05A32E}"/>
              </a:ext>
            </a:extLst>
          </p:cNvPr>
          <p:cNvSpPr>
            <a:spLocks noGrp="1" noChangeAspect="1"/>
          </p:cNvSpPr>
          <p:nvPr>
            <p:ph type="pic" idx="13" hasCustomPrompt="1"/>
          </p:nvPr>
        </p:nvSpPr>
        <p:spPr>
          <a:xfrm>
            <a:off x="498475" y="7006700"/>
            <a:ext cx="1167054" cy="40248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1000">
                <a:latin typeface="Corbel" panose="020B0503020204020204" pitchFamily="34" charset="0"/>
              </a:defRPr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en-US"/>
              <a:t>Client logo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44B53A-C15E-CB04-3A22-C27DF4592109}"/>
              </a:ext>
            </a:extLst>
          </p:cNvPr>
          <p:cNvCxnSpPr>
            <a:cxnSpLocks/>
          </p:cNvCxnSpPr>
          <p:nvPr/>
        </p:nvCxnSpPr>
        <p:spPr>
          <a:xfrm flipV="1">
            <a:off x="498475" y="2405270"/>
            <a:ext cx="6100410" cy="13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EF979D-14DA-783E-F289-D23D351865B4}"/>
              </a:ext>
            </a:extLst>
          </p:cNvPr>
          <p:cNvCxnSpPr>
            <a:cxnSpLocks/>
          </p:cNvCxnSpPr>
          <p:nvPr/>
        </p:nvCxnSpPr>
        <p:spPr>
          <a:xfrm flipV="1">
            <a:off x="6879397" y="2405270"/>
            <a:ext cx="6100410" cy="13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F8C809F9-FE6E-CDD1-E98E-00262C967438}"/>
              </a:ext>
            </a:extLst>
          </p:cNvPr>
          <p:cNvSpPr txBox="1">
            <a:spLocks/>
          </p:cNvSpPr>
          <p:nvPr/>
        </p:nvSpPr>
        <p:spPr>
          <a:xfrm>
            <a:off x="12824599" y="7046633"/>
            <a:ext cx="190757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4CB291-45E4-BD43-ACFB-6AA0D715F83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EB01A8CA-0043-E844-BB30-A303B3BF3C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8475" y="802259"/>
            <a:ext cx="12017375" cy="3143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i="1">
                <a:latin typeface="Corbel" panose="020B0503020204020204" pitchFamily="34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8064155F-43BB-6CB8-AC55-7C6449DFA90C}"/>
              </a:ext>
            </a:extLst>
          </p:cNvPr>
          <p:cNvSpPr txBox="1">
            <a:spLocks/>
          </p:cNvSpPr>
          <p:nvPr/>
        </p:nvSpPr>
        <p:spPr>
          <a:xfrm>
            <a:off x="498764" y="331302"/>
            <a:ext cx="12017027" cy="425289"/>
          </a:xfrm>
          <a:prstGeom prst="rect">
            <a:avLst/>
          </a:prstGeom>
        </p:spPr>
        <p:txBody>
          <a:bodyPr vert="horz" lIns="0" tIns="0" rIns="0" bIns="45720" rtlCol="0" anchor="ctr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r>
              <a:rPr lang="en-GB" sz="2800"/>
              <a:t>Click to edit Master title style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607313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98475" y="1853171"/>
            <a:ext cx="4003119" cy="46468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200" b="1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98475" y="2534479"/>
            <a:ext cx="4003119" cy="4204244"/>
          </a:xfrm>
          <a:prstGeom prst="rect">
            <a:avLst/>
          </a:prstGeom>
        </p:spPr>
        <p:txBody>
          <a:bodyPr anchor="t"/>
          <a:lstStyle>
            <a:lvl1pPr>
              <a:defRPr sz="20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sz="18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sz="16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707927" y="1853171"/>
            <a:ext cx="4022834" cy="46468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200" b="1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707927" y="2534479"/>
            <a:ext cx="4022834" cy="4204244"/>
          </a:xfrm>
          <a:prstGeom prst="rect">
            <a:avLst/>
          </a:prstGeom>
        </p:spPr>
        <p:txBody>
          <a:bodyPr anchor="t"/>
          <a:lstStyle>
            <a:lvl1pPr>
              <a:defRPr sz="20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sz="18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sz="16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7828E2-3942-1044-AA6A-A8BA83248D77}"/>
              </a:ext>
            </a:extLst>
          </p:cNvPr>
          <p:cNvCxnSpPr/>
          <p:nvPr/>
        </p:nvCxnSpPr>
        <p:spPr>
          <a:xfrm>
            <a:off x="923923" y="6907576"/>
            <a:ext cx="115918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10A6D3E-5179-9645-B14A-93D701BE49B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18395" y="204744"/>
            <a:ext cx="666588" cy="606215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54FEF7CD-9CB3-3B60-B8A8-EFADDB05A32E}"/>
              </a:ext>
            </a:extLst>
          </p:cNvPr>
          <p:cNvSpPr>
            <a:spLocks noGrp="1" noChangeAspect="1"/>
          </p:cNvSpPr>
          <p:nvPr>
            <p:ph type="pic" idx="13" hasCustomPrompt="1"/>
          </p:nvPr>
        </p:nvSpPr>
        <p:spPr>
          <a:xfrm>
            <a:off x="498475" y="7006700"/>
            <a:ext cx="1167054" cy="40248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1000">
                <a:latin typeface="Corbel" panose="020B0503020204020204" pitchFamily="34" charset="0"/>
              </a:defRPr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en-US"/>
              <a:t>Client logo here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A6F9CF4-3FA2-4934-3F44-A742CE2C2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37095" y="1853171"/>
            <a:ext cx="4022834" cy="46468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200" b="1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6C946570-B328-64F6-0522-FE9A32ADA81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37095" y="2534479"/>
            <a:ext cx="4022834" cy="4204244"/>
          </a:xfrm>
          <a:prstGeom prst="rect">
            <a:avLst/>
          </a:prstGeom>
        </p:spPr>
        <p:txBody>
          <a:bodyPr anchor="t"/>
          <a:lstStyle>
            <a:lvl1pPr>
              <a:defRPr sz="20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sz="18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sz="16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1F533651-CEAF-1562-A7F9-41903F41C1BA}"/>
              </a:ext>
            </a:extLst>
          </p:cNvPr>
          <p:cNvSpPr txBox="1">
            <a:spLocks/>
          </p:cNvSpPr>
          <p:nvPr/>
        </p:nvSpPr>
        <p:spPr>
          <a:xfrm>
            <a:off x="12824599" y="7046633"/>
            <a:ext cx="190757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4CB291-45E4-BD43-ACFB-6AA0D715F83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991D6E18-B199-2A0C-AB55-91A28FBDDC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8475" y="802259"/>
            <a:ext cx="12017375" cy="3143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i="1">
                <a:latin typeface="Corbel" panose="020B0503020204020204" pitchFamily="34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7ACA8D10-02D2-6BC4-8883-171196144476}"/>
              </a:ext>
            </a:extLst>
          </p:cNvPr>
          <p:cNvSpPr txBox="1">
            <a:spLocks/>
          </p:cNvSpPr>
          <p:nvPr/>
        </p:nvSpPr>
        <p:spPr>
          <a:xfrm>
            <a:off x="498764" y="331302"/>
            <a:ext cx="12017027" cy="425289"/>
          </a:xfrm>
          <a:prstGeom prst="rect">
            <a:avLst/>
          </a:prstGeom>
        </p:spPr>
        <p:txBody>
          <a:bodyPr vert="horz" lIns="0" tIns="0" rIns="0" bIns="45720" rtlCol="0" anchor="ctr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r>
              <a:rPr lang="en-GB" sz="2800"/>
              <a:t>Click to edit Master title style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01417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98476" y="1853171"/>
            <a:ext cx="2938154" cy="46468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200" b="1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98476" y="2534479"/>
            <a:ext cx="2938153" cy="4204244"/>
          </a:xfrm>
          <a:prstGeom prst="rect">
            <a:avLst/>
          </a:prstGeom>
        </p:spPr>
        <p:txBody>
          <a:bodyPr anchor="t"/>
          <a:lstStyle>
            <a:lvl1pPr>
              <a:defRPr sz="20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sz="18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sz="16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676748" y="2534479"/>
            <a:ext cx="2952622" cy="4204244"/>
          </a:xfrm>
          <a:prstGeom prst="rect">
            <a:avLst/>
          </a:prstGeom>
        </p:spPr>
        <p:txBody>
          <a:bodyPr anchor="t"/>
          <a:lstStyle>
            <a:lvl1pPr>
              <a:defRPr sz="20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sz="18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sz="16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7828E2-3942-1044-AA6A-A8BA83248D77}"/>
              </a:ext>
            </a:extLst>
          </p:cNvPr>
          <p:cNvCxnSpPr/>
          <p:nvPr/>
        </p:nvCxnSpPr>
        <p:spPr>
          <a:xfrm>
            <a:off x="923923" y="6907576"/>
            <a:ext cx="115918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10A6D3E-5179-9645-B14A-93D701BE49B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18395" y="204744"/>
            <a:ext cx="666588" cy="606215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54FEF7CD-9CB3-3B60-B8A8-EFADDB05A32E}"/>
              </a:ext>
            </a:extLst>
          </p:cNvPr>
          <p:cNvSpPr>
            <a:spLocks noGrp="1" noChangeAspect="1"/>
          </p:cNvSpPr>
          <p:nvPr>
            <p:ph type="pic" idx="13" hasCustomPrompt="1"/>
          </p:nvPr>
        </p:nvSpPr>
        <p:spPr>
          <a:xfrm>
            <a:off x="498475" y="7006700"/>
            <a:ext cx="1167054" cy="40248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1000">
                <a:latin typeface="Corbel" panose="020B0503020204020204" pitchFamily="34" charset="0"/>
              </a:defRPr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en-US"/>
              <a:t>Client logo here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6A759E55-7958-C8D2-1778-A531510A7B4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869489" y="2534479"/>
            <a:ext cx="2938153" cy="4204244"/>
          </a:xfrm>
          <a:prstGeom prst="rect">
            <a:avLst/>
          </a:prstGeom>
        </p:spPr>
        <p:txBody>
          <a:bodyPr anchor="t"/>
          <a:lstStyle>
            <a:lvl1pPr>
              <a:defRPr sz="20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sz="18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sz="16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099A99B5-6ACA-A29C-3533-E68E4449683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047761" y="2534479"/>
            <a:ext cx="2952622" cy="4204244"/>
          </a:xfrm>
          <a:prstGeom prst="rect">
            <a:avLst/>
          </a:prstGeom>
        </p:spPr>
        <p:txBody>
          <a:bodyPr anchor="t"/>
          <a:lstStyle>
            <a:lvl1pPr>
              <a:defRPr sz="20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sz="18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sz="16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BDBEF23-99C3-E02B-D480-EA9EE8DE0B9A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3669059" y="1853171"/>
            <a:ext cx="2938154" cy="46468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200" b="1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6B96635-A4D6-418A-3570-1999B36B6CB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869489" y="1853171"/>
            <a:ext cx="2938154" cy="46468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200" b="1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6B1362A-286E-089C-9F9F-E3FA73ED105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0047761" y="1853171"/>
            <a:ext cx="2938154" cy="46468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200" b="1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3FD904D-1E2A-68B0-4F73-0FF80E6185A6}"/>
              </a:ext>
            </a:extLst>
          </p:cNvPr>
          <p:cNvSpPr txBox="1">
            <a:spLocks/>
          </p:cNvSpPr>
          <p:nvPr/>
        </p:nvSpPr>
        <p:spPr>
          <a:xfrm>
            <a:off x="12824599" y="7046633"/>
            <a:ext cx="190757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4CB291-45E4-BD43-ACFB-6AA0D715F83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A4FF67E-B259-DC0C-53F3-C83CC035328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8475" y="802259"/>
            <a:ext cx="12017375" cy="3143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i="1">
                <a:latin typeface="Corbel" panose="020B0503020204020204" pitchFamily="34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C3F7DBCC-CC0A-D03E-15D1-53C28E888E9A}"/>
              </a:ext>
            </a:extLst>
          </p:cNvPr>
          <p:cNvSpPr txBox="1">
            <a:spLocks/>
          </p:cNvSpPr>
          <p:nvPr/>
        </p:nvSpPr>
        <p:spPr>
          <a:xfrm>
            <a:off x="498764" y="331302"/>
            <a:ext cx="12017027" cy="425289"/>
          </a:xfrm>
          <a:prstGeom prst="rect">
            <a:avLst/>
          </a:prstGeom>
        </p:spPr>
        <p:txBody>
          <a:bodyPr vert="horz" lIns="0" tIns="0" rIns="0" bIns="45720" rtlCol="0" anchor="ctr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r>
              <a:rPr lang="en-GB" sz="2800"/>
              <a:t>Click to edit Master title style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700416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98476" y="1853171"/>
            <a:ext cx="2324236" cy="46468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000" b="1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98477" y="2534479"/>
            <a:ext cx="2324236" cy="4204244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0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sz="18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sz="16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035743" y="2534479"/>
            <a:ext cx="2335682" cy="4204244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0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sz="18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sz="16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7828E2-3942-1044-AA6A-A8BA83248D77}"/>
              </a:ext>
            </a:extLst>
          </p:cNvPr>
          <p:cNvCxnSpPr/>
          <p:nvPr/>
        </p:nvCxnSpPr>
        <p:spPr>
          <a:xfrm>
            <a:off x="923923" y="6907576"/>
            <a:ext cx="115918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10A6D3E-5179-9645-B14A-93D701BE49B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18395" y="204744"/>
            <a:ext cx="666588" cy="606215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54FEF7CD-9CB3-3B60-B8A8-EFADDB05A32E}"/>
              </a:ext>
            </a:extLst>
          </p:cNvPr>
          <p:cNvSpPr>
            <a:spLocks noGrp="1" noChangeAspect="1"/>
          </p:cNvSpPr>
          <p:nvPr>
            <p:ph type="pic" idx="13" hasCustomPrompt="1"/>
          </p:nvPr>
        </p:nvSpPr>
        <p:spPr>
          <a:xfrm>
            <a:off x="498475" y="7006700"/>
            <a:ext cx="1167054" cy="40248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1000">
                <a:latin typeface="Corbel" panose="020B0503020204020204" pitchFamily="34" charset="0"/>
              </a:defRPr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en-US"/>
              <a:t>Client logo here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6A759E55-7958-C8D2-1778-A531510A7B4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584455" y="2534479"/>
            <a:ext cx="2324236" cy="4204244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0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sz="18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sz="16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099A99B5-6ACA-A29C-3533-E68E4449683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21721" y="2534479"/>
            <a:ext cx="2335682" cy="4204244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0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sz="18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sz="16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CBDEBD77-89B3-888D-31F4-CF397018521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10670431" y="2534479"/>
            <a:ext cx="2335682" cy="4204244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0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sz="18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sz="16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12FBEEF-ABB6-E8C5-C480-CA149308B4EB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3023015" y="1853171"/>
            <a:ext cx="2324236" cy="46468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000" b="1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9285948-56E3-C42D-F3A8-4D03E2CF2D75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5587310" y="1853171"/>
            <a:ext cx="2324236" cy="46468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000" b="1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A2008A3-D716-1052-FCBB-2AD5CDEDCE77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121788" y="1853171"/>
            <a:ext cx="2324236" cy="46468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000" b="1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D3EEFD3-864C-F152-B3ED-0A1411955747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10676145" y="1853171"/>
            <a:ext cx="2324236" cy="46468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000" b="1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3471077C-4ADB-264F-D45E-3BF7F303ACA1}"/>
              </a:ext>
            </a:extLst>
          </p:cNvPr>
          <p:cNvSpPr txBox="1">
            <a:spLocks/>
          </p:cNvSpPr>
          <p:nvPr/>
        </p:nvSpPr>
        <p:spPr>
          <a:xfrm>
            <a:off x="12824599" y="7046633"/>
            <a:ext cx="190757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4CB291-45E4-BD43-ACFB-6AA0D715F83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7EA505AD-70D9-15C1-2798-6F36D610CB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8475" y="802259"/>
            <a:ext cx="12017375" cy="3143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i="1">
                <a:latin typeface="Corbel" panose="020B0503020204020204" pitchFamily="34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29FE6D75-E4E3-7DF8-419D-BC8C1ADC9035}"/>
              </a:ext>
            </a:extLst>
          </p:cNvPr>
          <p:cNvSpPr txBox="1">
            <a:spLocks/>
          </p:cNvSpPr>
          <p:nvPr/>
        </p:nvSpPr>
        <p:spPr>
          <a:xfrm>
            <a:off x="498764" y="331302"/>
            <a:ext cx="12017027" cy="425289"/>
          </a:xfrm>
          <a:prstGeom prst="rect">
            <a:avLst/>
          </a:prstGeom>
        </p:spPr>
        <p:txBody>
          <a:bodyPr vert="horz" lIns="0" tIns="0" rIns="0" bIns="45720" rtlCol="0" anchor="ctr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r>
              <a:rPr lang="en-GB" sz="2800"/>
              <a:t>Click to edit Master title style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864761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98476" y="1853171"/>
            <a:ext cx="1936610" cy="46468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000" b="1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98477" y="2534479"/>
            <a:ext cx="1936610" cy="4204244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0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sz="18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sz="16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2603906" y="2534479"/>
            <a:ext cx="1946147" cy="4204244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0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sz="18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sz="16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7828E2-3942-1044-AA6A-A8BA83248D77}"/>
              </a:ext>
            </a:extLst>
          </p:cNvPr>
          <p:cNvCxnSpPr/>
          <p:nvPr/>
        </p:nvCxnSpPr>
        <p:spPr>
          <a:xfrm>
            <a:off x="923923" y="6907576"/>
            <a:ext cx="115918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10A6D3E-5179-9645-B14A-93D701BE49B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18395" y="204744"/>
            <a:ext cx="666588" cy="606215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54FEF7CD-9CB3-3B60-B8A8-EFADDB05A32E}"/>
              </a:ext>
            </a:extLst>
          </p:cNvPr>
          <p:cNvSpPr>
            <a:spLocks noGrp="1" noChangeAspect="1"/>
          </p:cNvSpPr>
          <p:nvPr>
            <p:ph type="pic" idx="13" hasCustomPrompt="1"/>
          </p:nvPr>
        </p:nvSpPr>
        <p:spPr>
          <a:xfrm>
            <a:off x="498475" y="7006700"/>
            <a:ext cx="1167054" cy="40248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1000">
                <a:latin typeface="Corbel" panose="020B0503020204020204" pitchFamily="34" charset="0"/>
              </a:defRPr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en-US"/>
              <a:t>Client logo here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6A759E55-7958-C8D2-1778-A531510A7B4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18872" y="2534479"/>
            <a:ext cx="1936610" cy="4204244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0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sz="18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sz="16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099A99B5-6ACA-A29C-3533-E68E4449683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824301" y="2534479"/>
            <a:ext cx="1946147" cy="4204244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0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sz="18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sz="16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CBDEBD77-89B3-888D-31F4-CF397018521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939267" y="2534479"/>
            <a:ext cx="1946147" cy="4204244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0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sz="18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sz="16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B0AFAD2C-815A-BC9D-C51F-288DC5C3A6D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11054234" y="2534479"/>
            <a:ext cx="1946147" cy="4204244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20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sz="18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sz="16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sz="1400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E295636-6C8D-0CA8-F3A2-EEAD381CE89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603906" y="1853171"/>
            <a:ext cx="1936610" cy="46468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000" b="1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0E7E58D1-E29B-76E9-A8E8-3F59A93F285F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718872" y="1853171"/>
            <a:ext cx="1936610" cy="46468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000" b="1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EDA8B7A-1300-6E99-7548-1507134F985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829702" y="1853171"/>
            <a:ext cx="1936610" cy="46468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000" b="1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57AED1B-4C9A-6A8B-3BD7-706A6A47488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8935132" y="1853171"/>
            <a:ext cx="1936610" cy="46468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000" b="1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049EE18-FA53-5B78-C624-75F57F1E554F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11050098" y="1853171"/>
            <a:ext cx="1936610" cy="46468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000" b="1">
                <a:latin typeface="Corbel" panose="020B0503020204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1BE6D8A-7599-543A-ACBE-930D35B4955B}"/>
              </a:ext>
            </a:extLst>
          </p:cNvPr>
          <p:cNvSpPr txBox="1">
            <a:spLocks/>
          </p:cNvSpPr>
          <p:nvPr/>
        </p:nvSpPr>
        <p:spPr>
          <a:xfrm>
            <a:off x="12824599" y="7046633"/>
            <a:ext cx="190757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4CB291-45E4-BD43-ACFB-6AA0D715F83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FAEAA58-D9DE-D6B6-3C35-D8B4A184A7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8475" y="802259"/>
            <a:ext cx="12017375" cy="3143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i="1">
                <a:latin typeface="Corbel" panose="020B0503020204020204" pitchFamily="34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itle Placeholder 1">
            <a:extLst>
              <a:ext uri="{FF2B5EF4-FFF2-40B4-BE49-F238E27FC236}">
                <a16:creationId xmlns:a16="http://schemas.microsoft.com/office/drawing/2014/main" id="{B98B83E3-5C0C-1F3A-5821-DC4D0945D3EE}"/>
              </a:ext>
            </a:extLst>
          </p:cNvPr>
          <p:cNvSpPr txBox="1">
            <a:spLocks/>
          </p:cNvSpPr>
          <p:nvPr/>
        </p:nvSpPr>
        <p:spPr>
          <a:xfrm>
            <a:off x="498764" y="331302"/>
            <a:ext cx="12017027" cy="425289"/>
          </a:xfrm>
          <a:prstGeom prst="rect">
            <a:avLst/>
          </a:prstGeom>
        </p:spPr>
        <p:txBody>
          <a:bodyPr vert="horz" lIns="0" tIns="0" rIns="0" bIns="45720" rtlCol="0" anchor="ctr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r>
              <a:rPr lang="en-GB" sz="2800"/>
              <a:t>Click to edit Master title style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560255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9A2B51F-7993-9A44-8076-4362AF9169F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18395" y="204744"/>
            <a:ext cx="666588" cy="60621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CE4450-1860-7F45-855B-C6D4E22A750F}"/>
              </a:ext>
            </a:extLst>
          </p:cNvPr>
          <p:cNvCxnSpPr>
            <a:cxnSpLocks/>
          </p:cNvCxnSpPr>
          <p:nvPr/>
        </p:nvCxnSpPr>
        <p:spPr>
          <a:xfrm>
            <a:off x="498764" y="6907576"/>
            <a:ext cx="125165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A4A6CA-7344-B149-944B-D489BF1E75E2}"/>
              </a:ext>
            </a:extLst>
          </p:cNvPr>
          <p:cNvCxnSpPr>
            <a:cxnSpLocks/>
          </p:cNvCxnSpPr>
          <p:nvPr/>
        </p:nvCxnSpPr>
        <p:spPr>
          <a:xfrm>
            <a:off x="498764" y="1126156"/>
            <a:ext cx="1251659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BC5456-610F-B59F-0FCE-8AA393496C6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8475" y="1511300"/>
            <a:ext cx="2334177" cy="52073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latin typeface="Corbel" panose="020B0503020204020204" pitchFamily="34" charset="0"/>
              </a:defRPr>
            </a:lvl1pPr>
            <a:lvl2pPr marL="503971" indent="0">
              <a:buNone/>
              <a:defRPr sz="2000">
                <a:latin typeface="Corbel" panose="020B0503020204020204" pitchFamily="34" charset="0"/>
              </a:defRPr>
            </a:lvl2pPr>
            <a:lvl3pPr marL="1007943" indent="0">
              <a:buNone/>
              <a:defRPr sz="1800">
                <a:latin typeface="Corbel" panose="020B0503020204020204" pitchFamily="34" charset="0"/>
              </a:defRPr>
            </a:lvl3pPr>
            <a:lvl4pPr marL="1511914" indent="0">
              <a:buNone/>
              <a:defRPr sz="1600">
                <a:latin typeface="Corbel" panose="020B0503020204020204" pitchFamily="34" charset="0"/>
              </a:defRPr>
            </a:lvl4pPr>
            <a:lvl5pPr marL="2015886" indent="0">
              <a:buNone/>
              <a:defRPr sz="1600"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D4EA50AE-06DE-D3BB-7C8F-401E988E96F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2892" y="1511300"/>
            <a:ext cx="2334177" cy="52073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latin typeface="Corbel" panose="020B0503020204020204" pitchFamily="34" charset="0"/>
              </a:defRPr>
            </a:lvl1pPr>
            <a:lvl2pPr marL="503971" indent="0">
              <a:buNone/>
              <a:defRPr sz="2000">
                <a:latin typeface="Corbel" panose="020B0503020204020204" pitchFamily="34" charset="0"/>
              </a:defRPr>
            </a:lvl2pPr>
            <a:lvl3pPr marL="1007943" indent="0">
              <a:buNone/>
              <a:defRPr sz="1800">
                <a:latin typeface="Corbel" panose="020B0503020204020204" pitchFamily="34" charset="0"/>
              </a:defRPr>
            </a:lvl3pPr>
            <a:lvl4pPr marL="1511914" indent="0">
              <a:buNone/>
              <a:defRPr sz="1600">
                <a:latin typeface="Corbel" panose="020B0503020204020204" pitchFamily="34" charset="0"/>
              </a:defRPr>
            </a:lvl4pPr>
            <a:lvl5pPr marL="2015886" indent="0">
              <a:buNone/>
              <a:defRPr sz="1600"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45EE2563-2C5F-8FDF-12F3-31F9E7A9D4C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87309" y="1511300"/>
            <a:ext cx="2334177" cy="52073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latin typeface="Corbel" panose="020B0503020204020204" pitchFamily="34" charset="0"/>
              </a:defRPr>
            </a:lvl1pPr>
            <a:lvl2pPr marL="503971" indent="0">
              <a:buNone/>
              <a:defRPr sz="2000">
                <a:latin typeface="Corbel" panose="020B0503020204020204" pitchFamily="34" charset="0"/>
              </a:defRPr>
            </a:lvl2pPr>
            <a:lvl3pPr marL="1007943" indent="0">
              <a:buNone/>
              <a:defRPr sz="1800">
                <a:latin typeface="Corbel" panose="020B0503020204020204" pitchFamily="34" charset="0"/>
              </a:defRPr>
            </a:lvl3pPr>
            <a:lvl4pPr marL="1511914" indent="0">
              <a:buNone/>
              <a:defRPr sz="1600">
                <a:latin typeface="Corbel" panose="020B0503020204020204" pitchFamily="34" charset="0"/>
              </a:defRPr>
            </a:lvl4pPr>
            <a:lvl5pPr marL="2015886" indent="0">
              <a:buNone/>
              <a:defRPr sz="1600"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D215BE7-8500-AC80-B532-670F3815B8A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31726" y="1511300"/>
            <a:ext cx="2334177" cy="52073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latin typeface="Corbel" panose="020B0503020204020204" pitchFamily="34" charset="0"/>
              </a:defRPr>
            </a:lvl1pPr>
            <a:lvl2pPr marL="503971" indent="0">
              <a:buNone/>
              <a:defRPr sz="2000">
                <a:latin typeface="Corbel" panose="020B0503020204020204" pitchFamily="34" charset="0"/>
              </a:defRPr>
            </a:lvl2pPr>
            <a:lvl3pPr marL="1007943" indent="0">
              <a:buNone/>
              <a:defRPr sz="1800">
                <a:latin typeface="Corbel" panose="020B0503020204020204" pitchFamily="34" charset="0"/>
              </a:defRPr>
            </a:lvl3pPr>
            <a:lvl4pPr marL="1511914" indent="0">
              <a:buNone/>
              <a:defRPr sz="1600">
                <a:latin typeface="Corbel" panose="020B0503020204020204" pitchFamily="34" charset="0"/>
              </a:defRPr>
            </a:lvl4pPr>
            <a:lvl5pPr marL="2015886" indent="0">
              <a:buNone/>
              <a:defRPr sz="1600"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2DDCCDD1-BB8A-D295-4E38-EB29CF02A38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676144" y="1511300"/>
            <a:ext cx="2334177" cy="52073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latin typeface="Corbel" panose="020B0503020204020204" pitchFamily="34" charset="0"/>
              </a:defRPr>
            </a:lvl1pPr>
            <a:lvl2pPr marL="503971" indent="0">
              <a:buNone/>
              <a:defRPr sz="2000">
                <a:latin typeface="Corbel" panose="020B0503020204020204" pitchFamily="34" charset="0"/>
              </a:defRPr>
            </a:lvl2pPr>
            <a:lvl3pPr marL="1007943" indent="0">
              <a:buNone/>
              <a:defRPr sz="1800">
                <a:latin typeface="Corbel" panose="020B0503020204020204" pitchFamily="34" charset="0"/>
              </a:defRPr>
            </a:lvl3pPr>
            <a:lvl4pPr marL="1511914" indent="0">
              <a:buNone/>
              <a:defRPr sz="1600">
                <a:latin typeface="Corbel" panose="020B0503020204020204" pitchFamily="34" charset="0"/>
              </a:defRPr>
            </a:lvl4pPr>
            <a:lvl5pPr marL="2015886" indent="0">
              <a:buNone/>
              <a:defRPr sz="1600"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027F8A8-A133-EF28-2DCB-5FAF2BCC4E53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498475" y="7006700"/>
            <a:ext cx="1167054" cy="40248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1000">
                <a:latin typeface="Corbel" panose="020B0503020204020204" pitchFamily="34" charset="0"/>
              </a:defRPr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en-US"/>
              <a:t>Client logo here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85337905-ADD5-94C3-D5E0-E2C817EF28E9}"/>
              </a:ext>
            </a:extLst>
          </p:cNvPr>
          <p:cNvSpPr txBox="1">
            <a:spLocks/>
          </p:cNvSpPr>
          <p:nvPr/>
        </p:nvSpPr>
        <p:spPr>
          <a:xfrm>
            <a:off x="12824599" y="7046633"/>
            <a:ext cx="190757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4CB291-45E4-BD43-ACFB-6AA0D715F83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06B6350-1A64-10CB-A3A7-D58A147502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8475" y="802259"/>
            <a:ext cx="12017375" cy="3143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i="1">
                <a:latin typeface="Corbel" panose="020B0503020204020204" pitchFamily="34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726D6E09-2699-7F96-1A89-690D67B43815}"/>
              </a:ext>
            </a:extLst>
          </p:cNvPr>
          <p:cNvSpPr txBox="1">
            <a:spLocks/>
          </p:cNvSpPr>
          <p:nvPr/>
        </p:nvSpPr>
        <p:spPr>
          <a:xfrm>
            <a:off x="498764" y="331302"/>
            <a:ext cx="12017027" cy="425289"/>
          </a:xfrm>
          <a:prstGeom prst="rect">
            <a:avLst/>
          </a:prstGeom>
        </p:spPr>
        <p:txBody>
          <a:bodyPr vert="horz" lIns="0" tIns="0" rIns="0" bIns="45720" rtlCol="0" anchor="ctr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r>
              <a:rPr lang="en-GB" sz="2800"/>
              <a:t>Click to edit Master title style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6794161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A8E873-1CD2-594F-AB54-6FC7C7ADAE9E}"/>
              </a:ext>
            </a:extLst>
          </p:cNvPr>
          <p:cNvCxnSpPr/>
          <p:nvPr/>
        </p:nvCxnSpPr>
        <p:spPr>
          <a:xfrm>
            <a:off x="923923" y="6907576"/>
            <a:ext cx="115918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6358004-9E83-8448-849B-F2C12FB9A05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18395" y="204744"/>
            <a:ext cx="666588" cy="606215"/>
          </a:xfrm>
          <a:prstGeom prst="rect">
            <a:avLst/>
          </a:prstGeom>
        </p:spPr>
      </p:pic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D7609FC-4072-12A5-3EF1-C2618012A082}"/>
              </a:ext>
            </a:extLst>
          </p:cNvPr>
          <p:cNvSpPr txBox="1">
            <a:spLocks/>
          </p:cNvSpPr>
          <p:nvPr/>
        </p:nvSpPr>
        <p:spPr>
          <a:xfrm>
            <a:off x="12824599" y="7086389"/>
            <a:ext cx="190757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4CB291-45E4-BD43-ACFB-6AA0D715F8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D242E0-0FFD-D3AE-9F41-598962DC2A69}"/>
              </a:ext>
            </a:extLst>
          </p:cNvPr>
          <p:cNvCxnSpPr>
            <a:cxnSpLocks/>
          </p:cNvCxnSpPr>
          <p:nvPr/>
        </p:nvCxnSpPr>
        <p:spPr>
          <a:xfrm>
            <a:off x="498764" y="6907576"/>
            <a:ext cx="125165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3114FE-E1A9-1419-E87B-807B3990A985}"/>
              </a:ext>
            </a:extLst>
          </p:cNvPr>
          <p:cNvCxnSpPr>
            <a:cxnSpLocks/>
          </p:cNvCxnSpPr>
          <p:nvPr/>
        </p:nvCxnSpPr>
        <p:spPr>
          <a:xfrm>
            <a:off x="498764" y="1126156"/>
            <a:ext cx="1251659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Placeholder 11">
            <a:extLst>
              <a:ext uri="{FF2B5EF4-FFF2-40B4-BE49-F238E27FC236}">
                <a16:creationId xmlns:a16="http://schemas.microsoft.com/office/drawing/2014/main" id="{2ACB7A7E-A784-53CF-2D41-D6DD19C51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764" y="319001"/>
            <a:ext cx="12516592" cy="40463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81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232" y="1311965"/>
            <a:ext cx="4334677" cy="1651676"/>
          </a:xfrm>
          <a:prstGeom prst="rect">
            <a:avLst/>
          </a:prstGeom>
        </p:spPr>
        <p:txBody>
          <a:bodyPr anchor="t"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8470" y="1311964"/>
            <a:ext cx="7861852" cy="5475553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Corbel" panose="020B0503020204020204" pitchFamily="34" charset="0"/>
              </a:defRPr>
            </a:lvl1pPr>
            <a:lvl2pPr>
              <a:defRPr sz="2800">
                <a:latin typeface="Corbel" panose="020B0503020204020204" pitchFamily="34" charset="0"/>
              </a:defRPr>
            </a:lvl2pPr>
            <a:lvl3pPr>
              <a:defRPr sz="2400">
                <a:latin typeface="Corbel" panose="020B0503020204020204" pitchFamily="34" charset="0"/>
              </a:defRPr>
            </a:lvl3pPr>
            <a:lvl4pPr>
              <a:defRPr sz="2000">
                <a:latin typeface="Corbel" panose="020B0503020204020204" pitchFamily="34" charset="0"/>
              </a:defRPr>
            </a:lvl4pPr>
            <a:lvl5pPr>
              <a:defRPr sz="2000">
                <a:latin typeface="Corbel" panose="020B0503020204020204" pitchFamily="34" charset="0"/>
              </a:defRPr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232" y="3269984"/>
            <a:ext cx="4334677" cy="35175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Corbel" panose="020B0503020204020204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483798-CB11-254C-B7E9-B7D5E5FDE813}"/>
              </a:ext>
            </a:extLst>
          </p:cNvPr>
          <p:cNvCxnSpPr/>
          <p:nvPr/>
        </p:nvCxnSpPr>
        <p:spPr>
          <a:xfrm>
            <a:off x="923923" y="6907576"/>
            <a:ext cx="115918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EAAC5A1-793E-C8AE-D454-A396BE41D4E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18395" y="204744"/>
            <a:ext cx="666588" cy="606215"/>
          </a:xfrm>
          <a:prstGeom prst="rect">
            <a:avLst/>
          </a:prstGeom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F0C21EF-AF95-C8E4-336A-B3AEFFD825D2}"/>
              </a:ext>
            </a:extLst>
          </p:cNvPr>
          <p:cNvSpPr txBox="1">
            <a:spLocks/>
          </p:cNvSpPr>
          <p:nvPr/>
        </p:nvSpPr>
        <p:spPr>
          <a:xfrm>
            <a:off x="12824599" y="7046633"/>
            <a:ext cx="190757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4CB291-45E4-BD43-ACFB-6AA0D715F83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6E71DDC-B64E-0249-46CE-3CA9D5C4F05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8475" y="7007225"/>
            <a:ext cx="1062038" cy="42862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Client logo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01B6C8D-679F-F173-FC53-F8C50DE7C6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8475" y="778195"/>
            <a:ext cx="12017375" cy="3143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i="1">
                <a:latin typeface="Corbel" panose="020B0503020204020204" pitchFamily="34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E6FEF01E-FCDE-84BC-D715-42DA86AB3A3F}"/>
              </a:ext>
            </a:extLst>
          </p:cNvPr>
          <p:cNvSpPr txBox="1">
            <a:spLocks/>
          </p:cNvSpPr>
          <p:nvPr/>
        </p:nvSpPr>
        <p:spPr>
          <a:xfrm>
            <a:off x="498764" y="331302"/>
            <a:ext cx="12017027" cy="425289"/>
          </a:xfrm>
          <a:prstGeom prst="rect">
            <a:avLst/>
          </a:prstGeom>
        </p:spPr>
        <p:txBody>
          <a:bodyPr vert="horz" lIns="0" tIns="0" rIns="0" bIns="45720" rtlCol="0" anchor="ctr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r>
              <a:rPr lang="en-GB" sz="2800"/>
              <a:t>Click to edit Master title style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6276620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232" y="1311965"/>
            <a:ext cx="4334677" cy="1651676"/>
          </a:xfrm>
          <a:prstGeom prst="rect">
            <a:avLst/>
          </a:prstGeom>
        </p:spPr>
        <p:txBody>
          <a:bodyPr anchor="t"/>
          <a:lstStyle>
            <a:lvl1pPr>
              <a:defRPr sz="3600">
                <a:latin typeface="Corbel" panose="020B05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232" y="3269984"/>
            <a:ext cx="4334677" cy="35175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64">
                <a:latin typeface="Corbel" panose="020B0503020204020204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483798-CB11-254C-B7E9-B7D5E5FDE813}"/>
              </a:ext>
            </a:extLst>
          </p:cNvPr>
          <p:cNvCxnSpPr/>
          <p:nvPr/>
        </p:nvCxnSpPr>
        <p:spPr>
          <a:xfrm>
            <a:off x="923923" y="6907576"/>
            <a:ext cx="115918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EAAC5A1-793E-C8AE-D454-A396BE41D4E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18395" y="204744"/>
            <a:ext cx="666588" cy="606215"/>
          </a:xfrm>
          <a:prstGeom prst="rect">
            <a:avLst/>
          </a:prstGeom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F0C21EF-AF95-C8E4-336A-B3AEFFD825D2}"/>
              </a:ext>
            </a:extLst>
          </p:cNvPr>
          <p:cNvSpPr txBox="1">
            <a:spLocks/>
          </p:cNvSpPr>
          <p:nvPr/>
        </p:nvSpPr>
        <p:spPr>
          <a:xfrm>
            <a:off x="12824599" y="7046633"/>
            <a:ext cx="190757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4CB291-45E4-BD43-ACFB-6AA0D715F830}" type="slidenum">
              <a:rPr lang="en-US" smtClean="0">
                <a:latin typeface="Corbel" panose="020B0503020204020204" pitchFamily="34" charset="0"/>
              </a:rPr>
              <a:pPr/>
              <a:t>‹#›</a:t>
            </a:fld>
            <a:endParaRPr lang="en-US">
              <a:latin typeface="Corbel" panose="020B0503020204020204" pitchFamily="34" charset="0"/>
            </a:endParaRP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6E71DDC-B64E-0249-46CE-3CA9D5C4F05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8475" y="7007225"/>
            <a:ext cx="1062038" cy="42862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1100">
                <a:latin typeface="Corbel" panose="020B0503020204020204" pitchFamily="34" charset="0"/>
              </a:defRPr>
            </a:lvl1pPr>
          </a:lstStyle>
          <a:p>
            <a:r>
              <a:rPr lang="en-US"/>
              <a:t>Client logo here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230BEA43-DA62-5EDF-3DB3-22A19F17149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38530" y="1311965"/>
            <a:ext cx="7869313" cy="537226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Corbel" panose="020B0503020204020204" pitchFamily="34" charset="0"/>
              </a:defRPr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0F5D396-8954-5080-160F-A99938DF03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8475" y="778195"/>
            <a:ext cx="12017375" cy="3143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i="1">
                <a:latin typeface="Corbel" panose="020B0503020204020204" pitchFamily="34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EC83F9FD-4C22-D6A8-A3F0-6E4747282A6A}"/>
              </a:ext>
            </a:extLst>
          </p:cNvPr>
          <p:cNvSpPr txBox="1">
            <a:spLocks/>
          </p:cNvSpPr>
          <p:nvPr/>
        </p:nvSpPr>
        <p:spPr>
          <a:xfrm>
            <a:off x="498764" y="331302"/>
            <a:ext cx="12017027" cy="425289"/>
          </a:xfrm>
          <a:prstGeom prst="rect">
            <a:avLst/>
          </a:prstGeom>
        </p:spPr>
        <p:txBody>
          <a:bodyPr vert="horz" lIns="0" tIns="0" rIns="0" bIns="45720" rtlCol="0" anchor="ctr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r>
              <a:rPr lang="en-GB" sz="2800"/>
              <a:t>Click to edit Master title style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0394636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0165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1F0F03C-9B10-764E-9232-B914070E3871}"/>
              </a:ext>
            </a:extLst>
          </p:cNvPr>
          <p:cNvGrpSpPr/>
          <p:nvPr userDrawn="1"/>
        </p:nvGrpSpPr>
        <p:grpSpPr>
          <a:xfrm>
            <a:off x="0" y="0"/>
            <a:ext cx="5678889" cy="7559675"/>
            <a:chOff x="-225599" y="0"/>
            <a:chExt cx="4845713" cy="6450729"/>
          </a:xfrm>
        </p:grpSpPr>
        <p:pic>
          <p:nvPicPr>
            <p:cNvPr id="8" name="object 3">
              <a:extLst>
                <a:ext uri="{FF2B5EF4-FFF2-40B4-BE49-F238E27FC236}">
                  <a16:creationId xmlns:a16="http://schemas.microsoft.com/office/drawing/2014/main" id="{D06F49C2-F20A-6B4F-8D34-F11A39CE45BF}"/>
                </a:ext>
              </a:extLst>
            </p:cNvPr>
            <p:cNvPicPr/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225599" y="0"/>
              <a:ext cx="4845713" cy="645072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DF54A5A-5DCA-FC40-B508-A52C73FC61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29150" y="757709"/>
              <a:ext cx="438259" cy="40705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5CACD8D-F28A-EC45-8260-D3C78DB97C0E}"/>
                </a:ext>
              </a:extLst>
            </p:cNvPr>
            <p:cNvSpPr/>
            <p:nvPr userDrawn="1"/>
          </p:nvSpPr>
          <p:spPr>
            <a:xfrm>
              <a:off x="3305060" y="815248"/>
              <a:ext cx="286439" cy="293698"/>
            </a:xfrm>
            <a:prstGeom prst="rect">
              <a:avLst/>
            </a:prstGeom>
            <a:solidFill>
              <a:srgbClr val="3F43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84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BE4C21D-B6D4-104D-9484-82F4C7BEA2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18237" y="879174"/>
              <a:ext cx="247385" cy="229772"/>
            </a:xfrm>
            <a:prstGeom prst="rect">
              <a:avLst/>
            </a:prstGeom>
          </p:spPr>
        </p:pic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CB4992F-63E0-F140-8674-2E1BBCC2D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370" y="4986348"/>
            <a:ext cx="3918717" cy="1825171"/>
          </a:xfrm>
        </p:spPr>
        <p:txBody>
          <a:bodyPr>
            <a:normAutofit/>
          </a:bodyPr>
          <a:lstStyle>
            <a:lvl1pPr marL="0" indent="0" algn="l">
              <a:buNone/>
              <a:defRPr sz="1764">
                <a:solidFill>
                  <a:schemeClr val="bg1"/>
                </a:solidFill>
                <a:latin typeface="Corbel" panose="020B0503020204020204" pitchFamily="34" charset="0"/>
              </a:defRPr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5E1911-0180-A048-A896-18F29A72AD29}"/>
              </a:ext>
            </a:extLst>
          </p:cNvPr>
          <p:cNvSpPr/>
          <p:nvPr userDrawn="1"/>
        </p:nvSpPr>
        <p:spPr>
          <a:xfrm>
            <a:off x="0" y="0"/>
            <a:ext cx="13439775" cy="7559675"/>
          </a:xfrm>
          <a:prstGeom prst="rect">
            <a:avLst/>
          </a:prstGeom>
          <a:solidFill>
            <a:srgbClr val="3F43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4A6B9E2-6989-FC4E-AA6C-CD8CBFE0D6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4089" b="6851"/>
          <a:stretch/>
        </p:blipFill>
        <p:spPr>
          <a:xfrm>
            <a:off x="3090145" y="-7476"/>
            <a:ext cx="10349630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5039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E05027D0-5945-DDD5-E2B5-544FB4FF52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824599" y="7046633"/>
            <a:ext cx="190757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814CB291-45E4-BD43-ACFB-6AA0D715F8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2A97B2-ECCD-D6B0-E7E8-2E3FE6254D2E}"/>
              </a:ext>
            </a:extLst>
          </p:cNvPr>
          <p:cNvCxnSpPr>
            <a:cxnSpLocks/>
          </p:cNvCxnSpPr>
          <p:nvPr/>
        </p:nvCxnSpPr>
        <p:spPr>
          <a:xfrm>
            <a:off x="498764" y="6907576"/>
            <a:ext cx="125165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F0A683-4A60-05E0-E0B4-01286E33A693}"/>
              </a:ext>
            </a:extLst>
          </p:cNvPr>
          <p:cNvCxnSpPr>
            <a:cxnSpLocks/>
          </p:cNvCxnSpPr>
          <p:nvPr/>
        </p:nvCxnSpPr>
        <p:spPr>
          <a:xfrm>
            <a:off x="498764" y="1126156"/>
            <a:ext cx="1251659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A4EDB24B-A3C0-A975-F000-E8EE91216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764" y="403225"/>
            <a:ext cx="12516592" cy="40463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3D22C617-C943-C2CD-E79E-74FECF7F4609}"/>
              </a:ext>
            </a:extLst>
          </p:cNvPr>
          <p:cNvSpPr txBox="1">
            <a:spLocks/>
          </p:cNvSpPr>
          <p:nvPr/>
        </p:nvSpPr>
        <p:spPr>
          <a:xfrm>
            <a:off x="11161192" y="7089595"/>
            <a:ext cx="1184620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spc="100" baseline="0">
                <a:solidFill>
                  <a:schemeClr val="bg1">
                    <a:lumMod val="65000"/>
                  </a:schemeClr>
                </a:solidFill>
              </a:rPr>
              <a:t>© Brand Leadership</a:t>
            </a:r>
          </a:p>
        </p:txBody>
      </p:sp>
    </p:spTree>
    <p:extLst>
      <p:ext uri="{BB962C8B-B14F-4D97-AF65-F5344CB8AC3E}">
        <p14:creationId xmlns:p14="http://schemas.microsoft.com/office/powerpoint/2010/main" val="2936199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686" r:id="rId3"/>
    <p:sldLayoutId id="2147483687" r:id="rId4"/>
    <p:sldLayoutId id="2147483715" r:id="rId5"/>
    <p:sldLayoutId id="2147483758" r:id="rId6"/>
    <p:sldLayoutId id="2147483755" r:id="rId7"/>
    <p:sldLayoutId id="2147483698" r:id="rId8"/>
    <p:sldLayoutId id="2147483759" r:id="rId9"/>
    <p:sldLayoutId id="2147483760" r:id="rId10"/>
    <p:sldLayoutId id="2147483761" r:id="rId11"/>
    <p:sldLayoutId id="2147483762" r:id="rId12"/>
    <p:sldLayoutId id="2147483757" r:id="rId13"/>
    <p:sldLayoutId id="2147483700" r:id="rId14"/>
    <p:sldLayoutId id="2147483701" r:id="rId15"/>
    <p:sldLayoutId id="2147483763" r:id="rId16"/>
    <p:sldLayoutId id="2147483766" r:id="rId17"/>
    <p:sldLayoutId id="2147483767" r:id="rId18"/>
  </p:sldLayoutIdLst>
  <p:hf hdr="0" dt="0"/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Corbel" panose="020B0503020204020204" pitchFamily="34" charset="0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1.png"/><Relationship Id="rId3" Type="http://schemas.microsoft.com/office/2007/relationships/hdphoto" Target="../media/hdphoto1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0.png"/><Relationship Id="rId6" Type="http://schemas.openxmlformats.org/officeDocument/2006/relationships/image" Target="../media/image5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4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57.png"/><Relationship Id="rId5" Type="http://schemas.openxmlformats.org/officeDocument/2006/relationships/image" Target="../media/image6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55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44.png"/><Relationship Id="rId5" Type="http://schemas.openxmlformats.org/officeDocument/2006/relationships/image" Target="../media/image66.png"/><Relationship Id="rId6" Type="http://schemas.openxmlformats.org/officeDocument/2006/relationships/image" Target="../media/image6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7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70.png"/><Relationship Id="rId4" Type="http://schemas.openxmlformats.org/officeDocument/2006/relationships/image" Target="../media/image7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68.png"/><Relationship Id="rId4" Type="http://schemas.openxmlformats.org/officeDocument/2006/relationships/image" Target="../media/image64.png"/><Relationship Id="rId5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A296E-2E76-A882-4865-12B484128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370" y="2252965"/>
            <a:ext cx="4831401" cy="2631887"/>
          </a:xfrm>
        </p:spPr>
        <p:txBody>
          <a:bodyPr/>
          <a:lstStyle/>
          <a:p>
            <a:r>
              <a:rPr sz="3400"/>
              <a:t>Measurement, insights and governance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613158-8A2D-DF00-7A12-238F3F4A2A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t>RFP-202609-00541</a:t>
            </a:r>
          </a:p>
          <a:p>
            <a:r>
              <a:t>University of Pretoria</a:t>
            </a:r>
          </a:p>
          <a:p>
            <a:r>
              <a:t>Proposal sections 5 and 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ABC8E-78B6-97A9-FACC-AFC7560938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4CB291-45E4-BD43-ACFB-6AA0D715F83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811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49AACE1D-CE56-094C-9072-36565261DE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3144" y="3928695"/>
            <a:ext cx="3918615" cy="1825171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323"/>
              <a:t>Brand Leadership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323"/>
              <a:t>2 Moray Drive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323"/>
              <a:t>Bryanston, 2194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323"/>
              <a:t>info@brandleadership.com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3FD6F1-501F-C040-BA0C-BCD75CC0839C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alphaModFix amt="8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0168" y="4795463"/>
            <a:ext cx="1318473" cy="1318473"/>
          </a:xfrm>
          <a:prstGeom prst="rect">
            <a:avLst/>
          </a:prstGeom>
        </p:spPr>
      </p:pic>
      <p:sp>
        <p:nvSpPr>
          <p:cNvPr id="7" name="Subtitle 4">
            <a:extLst>
              <a:ext uri="{FF2B5EF4-FFF2-40B4-BE49-F238E27FC236}">
                <a16:creationId xmlns:a16="http://schemas.microsoft.com/office/drawing/2014/main" id="{7F34C77B-B7E4-2146-8084-FEECE751E819}"/>
              </a:ext>
            </a:extLst>
          </p:cNvPr>
          <p:cNvSpPr txBox="1">
            <a:spLocks/>
          </p:cNvSpPr>
          <p:nvPr/>
        </p:nvSpPr>
        <p:spPr>
          <a:xfrm>
            <a:off x="448170" y="6238658"/>
            <a:ext cx="5583271" cy="1244658"/>
          </a:xfrm>
          <a:prstGeom prst="rect">
            <a:avLst/>
          </a:prstGeom>
        </p:spPr>
        <p:txBody>
          <a:bodyPr vert="horz" lIns="100796" tIns="50398" rIns="100796" bIns="50398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323"/>
              <a:t>Brand leadership is a leading brand development, integrated marketing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323"/>
              <a:t>Communications, media and events firm focused on helping clients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43" b="1" i="1"/>
              <a:t>Build Great Brands.</a:t>
            </a:r>
            <a:endParaRPr lang="en-US" sz="1323" b="1" i="1"/>
          </a:p>
        </p:txBody>
      </p:sp>
      <p:sp>
        <p:nvSpPr>
          <p:cNvPr id="8" name="Subtitle 4">
            <a:extLst>
              <a:ext uri="{FF2B5EF4-FFF2-40B4-BE49-F238E27FC236}">
                <a16:creationId xmlns:a16="http://schemas.microsoft.com/office/drawing/2014/main" id="{42FD1F5E-6208-874F-B524-933327BF02E0}"/>
              </a:ext>
            </a:extLst>
          </p:cNvPr>
          <p:cNvSpPr txBox="1">
            <a:spLocks/>
          </p:cNvSpPr>
          <p:nvPr/>
        </p:nvSpPr>
        <p:spPr>
          <a:xfrm>
            <a:off x="448170" y="1616783"/>
            <a:ext cx="4235224" cy="875417"/>
          </a:xfrm>
          <a:prstGeom prst="rect">
            <a:avLst/>
          </a:prstGeom>
        </p:spPr>
        <p:txBody>
          <a:bodyPr vert="horz" lIns="100796" tIns="50398" rIns="100796" bIns="50398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85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39366019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r>
              <a:t>Our response to sections 5 and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6126480" cy="4572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097280" cy="1097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orbe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691640"/>
            <a:ext cx="4206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14244"/>
                </a:solidFill>
                <a:latin typeface="Corbel"/>
              </a:rPr>
              <a:t>Measurement, reporting and strategic insights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17520"/>
            <a:ext cx="3840480" cy="384048"/>
          </a:xfrm>
          <a:prstGeom prst="roundRect">
            <a:avLst>
              <a:gd name="adj" fmla="val 50000"/>
            </a:avLst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rbel"/>
              </a:rPr>
              <a:t>Evaluation criterion 3: 13 of 100 points</a:t>
            </a:r>
          </a:p>
        </p:txBody>
      </p:sp>
      <p:pic>
        <p:nvPicPr>
          <p:cNvPr id="9" name="Picture 8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703320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8720" y="365760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A five-step method that runs from objectives to action</a:t>
            </a:r>
          </a:p>
        </p:txBody>
      </p:sp>
      <p:pic>
        <p:nvPicPr>
          <p:cNvPr id="11" name="Picture 10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70248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88720" y="4224528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KPIs linked to University outcomes and Thrive UP 2038</a:t>
            </a:r>
          </a:p>
        </p:txBody>
      </p:sp>
      <p:pic>
        <p:nvPicPr>
          <p:cNvPr id="13" name="Picture 12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837176"/>
            <a:ext cx="274320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88720" y="4791456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Plain statements on what attribution can and cannot prove</a:t>
            </a:r>
          </a:p>
        </p:txBody>
      </p:sp>
      <p:pic>
        <p:nvPicPr>
          <p:cNvPr id="15" name="Picture 14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404103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88720" y="5358383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One data flow, one dashboard and a fixed reporting rhythm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94576" y="1417320"/>
            <a:ext cx="6126480" cy="4572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68896" y="1691640"/>
            <a:ext cx="1097280" cy="1097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orbel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1691640"/>
            <a:ext cx="4206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14244"/>
                </a:solidFill>
                <a:latin typeface="Corbel"/>
              </a:rPr>
              <a:t>Governance, data, AI and risk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68896" y="3017520"/>
            <a:ext cx="3840480" cy="384048"/>
          </a:xfrm>
          <a:prstGeom prst="roundRect">
            <a:avLst>
              <a:gd name="adj" fmla="val 50000"/>
            </a:avLst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rbel"/>
              </a:rPr>
              <a:t>Evaluation criterion 8: 8 of 100 points</a:t>
            </a:r>
          </a:p>
        </p:txBody>
      </p:sp>
      <p:pic>
        <p:nvPicPr>
          <p:cNvPr id="21" name="Picture 20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896" y="3703320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580375" y="365760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UP owns its accounts, data, files and intellectual property</a:t>
            </a:r>
          </a:p>
        </p:txBody>
      </p:sp>
      <p:pic>
        <p:nvPicPr>
          <p:cNvPr id="23" name="Picture 22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896" y="4270248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80375" y="4224528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POPIA and security built into every step</a:t>
            </a:r>
          </a:p>
        </p:txBody>
      </p:sp>
      <p:pic>
        <p:nvPicPr>
          <p:cNvPr id="25" name="Picture 24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896" y="4837176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580375" y="4791456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Responsible AI with approval, review and disclosure</a:t>
            </a:r>
          </a:p>
        </p:txBody>
      </p:sp>
      <p:pic>
        <p:nvPicPr>
          <p:cNvPr id="27" name="Picture 26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896" y="5404103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580375" y="5358383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A live risk register, conflict disclosure and clear escalation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217920"/>
            <a:ext cx="12518136" cy="457200"/>
          </a:xfrm>
          <a:prstGeom prst="rect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DF00"/>
                </a:solidFill>
                <a:latin typeface="Corbel"/>
              </a:rPr>
              <a:t>How the two connect:  </a:t>
            </a:r>
            <a:r>
              <a:rPr sz="1400" b="0" i="0">
                <a:solidFill>
                  <a:srgbClr val="FFFFFF"/>
                </a:solidFill>
                <a:latin typeface="Corbel"/>
              </a:rPr>
              <a:t>good measurement needs trusted data, and trusted data needs good governance.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6FE37-534A-512A-AA94-47520E2FCF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Brand Leadership 2024</a:t>
            </a:r>
          </a:p>
          <a:p>
            <a:r>
              <a:rPr lang="en-US" dirty="0"/>
              <a:t>
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B765-8B9B-BDAC-53D0-F6B7DDE6C7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4CB291-45E4-BD43-ACFB-6AA0D715F83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89C4B-F387-9542-52A0-870306CED9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</a:rPr>
              <a:t>MEASUREMENT, REPORTING AND STRATEGIC INSIGHTS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890C4A-68E6-DD28-68A0-AE07981D30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8000" b="1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r>
              <a:t>How we turn campaign data into University decisions</a:t>
            </a:r>
          </a:p>
        </p:txBody>
      </p:sp>
      <p:sp>
        <p:nvSpPr>
          <p:cNvPr id="5" name="Pentagon 4"/>
          <p:cNvSpPr/>
          <p:nvPr/>
        </p:nvSpPr>
        <p:spPr>
          <a:xfrm>
            <a:off x="502920" y="1417320"/>
            <a:ext cx="2423160" cy="822960"/>
          </a:xfrm>
          <a:prstGeom prst="homePlat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orbe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1732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rbel"/>
              </a:rPr>
              <a:t>Agree success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77440"/>
            <a:ext cx="2331720" cy="2651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42032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0000"/>
                </a:solidFill>
                <a:latin typeface="Corbel"/>
              </a:rPr>
              <a:t>WHAT WE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19659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Set objectives, KPIs, baselines and targets with UP before any spend. Each KPI is tied to a University outcome.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166360"/>
            <a:ext cx="2331720" cy="1188720"/>
          </a:xfrm>
          <a:prstGeom prst="rect">
            <a:avLst/>
          </a:prstGeom>
          <a:solidFill>
            <a:srgbClr val="FFD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285232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14244"/>
                </a:solidFill>
                <a:latin typeface="Corbel"/>
              </a:rPr>
              <a:t>UP RECEIVES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550408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A signed-off measurement framework</a:t>
            </a:r>
          </a:p>
        </p:txBody>
      </p:sp>
      <p:sp>
        <p:nvSpPr>
          <p:cNvPr id="14" name="Pentagon 13"/>
          <p:cNvSpPr/>
          <p:nvPr/>
        </p:nvSpPr>
        <p:spPr>
          <a:xfrm>
            <a:off x="3049524" y="1417320"/>
            <a:ext cx="2423160" cy="822960"/>
          </a:xfrm>
          <a:prstGeom prst="homePlat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86684" y="160020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orbe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1044" y="141732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rbel"/>
              </a:rPr>
              <a:t>Set up 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9524" y="2377440"/>
            <a:ext cx="2331720" cy="2651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32404" y="2542032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0000"/>
                </a:solidFill>
                <a:latin typeface="Corbel"/>
              </a:rPr>
              <a:t>WHAT WE 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2404" y="2834640"/>
            <a:ext cx="19659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Tags, pixels, UTMs and conversion events are built on UP-owned accounts and tested before launch.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49524" y="5166360"/>
            <a:ext cx="2331720" cy="1188720"/>
          </a:xfrm>
          <a:prstGeom prst="rect">
            <a:avLst/>
          </a:prstGeom>
          <a:solidFill>
            <a:srgbClr val="FFD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2404" y="5285232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14244"/>
                </a:solidFill>
                <a:latin typeface="Corbel"/>
              </a:rPr>
              <a:t>UP RECEIVES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32404" y="5550408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A tracking checklist for every campaign</a:t>
            </a:r>
          </a:p>
        </p:txBody>
      </p:sp>
      <p:sp>
        <p:nvSpPr>
          <p:cNvPr id="23" name="Pentagon 22"/>
          <p:cNvSpPr/>
          <p:nvPr/>
        </p:nvSpPr>
        <p:spPr>
          <a:xfrm>
            <a:off x="5596127" y="1417320"/>
            <a:ext cx="2423160" cy="822960"/>
          </a:xfrm>
          <a:prstGeom prst="homePlat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33288" y="160020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orbe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7" y="141732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rbel"/>
              </a:rPr>
              <a:t>Check the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96127" y="2377440"/>
            <a:ext cx="2331720" cy="2651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79007" y="2542032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0000"/>
                </a:solidFill>
                <a:latin typeface="Corbel"/>
              </a:rPr>
              <a:t>WHAT WE 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79007" y="2834640"/>
            <a:ext cx="19659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Platform, publisher and website data is pulled into one model and checked for gaps and spikes.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96127" y="5166360"/>
            <a:ext cx="2331720" cy="1188720"/>
          </a:xfrm>
          <a:prstGeom prst="rect">
            <a:avLst/>
          </a:prstGeom>
          <a:solidFill>
            <a:srgbClr val="FFD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79007" y="5285232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14244"/>
                </a:solidFill>
                <a:latin typeface="Corbel"/>
              </a:rPr>
              <a:t>UP RECEIVES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9007" y="5550408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One set of numbers everyone trusts</a:t>
            </a:r>
          </a:p>
        </p:txBody>
      </p:sp>
      <p:sp>
        <p:nvSpPr>
          <p:cNvPr id="32" name="Pentagon 31"/>
          <p:cNvSpPr/>
          <p:nvPr/>
        </p:nvSpPr>
        <p:spPr>
          <a:xfrm>
            <a:off x="8142731" y="1417320"/>
            <a:ext cx="2423160" cy="822960"/>
          </a:xfrm>
          <a:prstGeom prst="homePlat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79892" y="160020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orbe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74252" y="141732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rbel"/>
              </a:rPr>
              <a:t>Interpret results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42731" y="2377440"/>
            <a:ext cx="2331720" cy="2651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5611" y="2542032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0000"/>
                </a:solidFill>
                <a:latin typeface="Corbel"/>
              </a:rPr>
              <a:t>WHAT WE 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5611" y="2834640"/>
            <a:ext cx="19659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We explain what happened, why, what we learned and what the evidence cannot yet show.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42731" y="5166360"/>
            <a:ext cx="2331720" cy="1188720"/>
          </a:xfrm>
          <a:prstGeom prst="rect">
            <a:avLst/>
          </a:prstGeom>
          <a:solidFill>
            <a:srgbClr val="FFD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5611" y="5285232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14244"/>
                </a:solidFill>
                <a:latin typeface="Corbel"/>
              </a:rPr>
              <a:t>UP RECEIVES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5611" y="5550408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Insight, not platform screenshots</a:t>
            </a:r>
          </a:p>
        </p:txBody>
      </p:sp>
      <p:sp>
        <p:nvSpPr>
          <p:cNvPr id="41" name="Pentagon 40"/>
          <p:cNvSpPr/>
          <p:nvPr/>
        </p:nvSpPr>
        <p:spPr>
          <a:xfrm>
            <a:off x="10689336" y="1417320"/>
            <a:ext cx="2423160" cy="822960"/>
          </a:xfrm>
          <a:prstGeom prst="homePlat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26496" y="160020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orbel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20856" y="141732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rbel"/>
              </a:rPr>
              <a:t>Act and report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89336" y="2377440"/>
            <a:ext cx="2331720" cy="2651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72215" y="2542032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0000"/>
                </a:solidFill>
                <a:latin typeface="Corbel"/>
              </a:rPr>
              <a:t>WHAT WE 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72215" y="2834640"/>
            <a:ext cx="19659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Recommendations carry an owner, a date and an expected effect. Every change goes in the optimisation log.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89336" y="5166360"/>
            <a:ext cx="2331720" cy="1188720"/>
          </a:xfrm>
          <a:prstGeom prst="rect">
            <a:avLst/>
          </a:prstGeom>
          <a:solidFill>
            <a:srgbClr val="FFD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872215" y="5285232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14244"/>
                </a:solidFill>
                <a:latin typeface="Corbel"/>
              </a:rPr>
              <a:t>UP RECEIVES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72215" y="5550408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Decision-ready reports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46520"/>
            <a:ext cx="125181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Reports interpret performance. They do not reproduce platform dashboards.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r>
              <a:t>Connecting campaign results to UP's strategic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743200" cy="4754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743200" cy="731520"/>
          </a:xfrm>
          <a:prstGeom prst="rect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DF00"/>
                </a:solidFill>
                <a:latin typeface="Corbel"/>
              </a:rPr>
              <a:t>1  </a:t>
            </a:r>
            <a:r>
              <a:rPr sz="1600" b="1" i="0">
                <a:solidFill>
                  <a:srgbClr val="FFFFFF"/>
                </a:solidFill>
                <a:latin typeface="Corbel"/>
              </a:rPr>
              <a:t>Campaign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23774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Reach and frequency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39"/>
            <a:ext cx="23774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Clicks and click-through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794760"/>
            <a:ext cx="23774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Cost per lead and per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526280"/>
            <a:ext cx="23774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Qualified traffic and enquiries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257800"/>
            <a:ext cx="23774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Applications and registrations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10128" y="3794760"/>
            <a:ext cx="274320" cy="0"/>
          </a:xfrm>
          <a:prstGeom prst="line">
            <a:avLst/>
          </a:prstGeom>
          <a:ln w="381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630168" y="1417320"/>
            <a:ext cx="2743200" cy="4754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30168" y="1417320"/>
            <a:ext cx="2743200" cy="7315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DF00"/>
                </a:solidFill>
                <a:latin typeface="Corbel"/>
              </a:rPr>
              <a:t>2  </a:t>
            </a:r>
            <a:r>
              <a:rPr sz="1600" b="1" i="0">
                <a:solidFill>
                  <a:srgbClr val="FFFFFF"/>
                </a:solidFill>
                <a:latin typeface="Corbel"/>
              </a:rPr>
              <a:t>Contribution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3048" y="2331720"/>
            <a:ext cx="23774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Tracked journeys: UTMs, events and offline conversions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3048" y="3264408"/>
            <a:ext cx="23774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Search trends and share of 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13048" y="4197096"/>
            <a:ext cx="23774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Brand lift and audience surveys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13048" y="5129783"/>
            <a:ext cx="23774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Sentiment and media quality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37376" y="3794760"/>
            <a:ext cx="274320" cy="0"/>
          </a:xfrm>
          <a:prstGeom prst="line">
            <a:avLst/>
          </a:prstGeom>
          <a:ln w="381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757416" y="1417320"/>
            <a:ext cx="6263640" cy="731520"/>
          </a:xfrm>
          <a:prstGeom prst="rect">
            <a:avLst/>
          </a:prstGeom>
          <a:solidFill>
            <a:srgbClr val="FFD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00000"/>
                </a:solidFill>
                <a:latin typeface="Corbel"/>
              </a:rPr>
              <a:t>3  </a:t>
            </a:r>
            <a:r>
              <a:rPr sz="1600" b="1" i="0">
                <a:solidFill>
                  <a:srgbClr val="414244"/>
                </a:solidFill>
                <a:latin typeface="Corbel"/>
              </a:rPr>
              <a:t>University outcomes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57416" y="2286000"/>
            <a:ext cx="3063240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40296" y="2560320"/>
            <a:ext cx="640080" cy="640080"/>
          </a:xfrm>
          <a:prstGeom prst="ellips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university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0316" y="2720339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63256" y="2395728"/>
            <a:ext cx="19202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414244"/>
                </a:solidFill>
                <a:latin typeface="Corbel"/>
              </a:rPr>
              <a:t>Institutional reputation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orbel"/>
              </a:rPr>
              <a:t>Awareness, sentiment, share of voice and quality media exposure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57816" y="2286000"/>
            <a:ext cx="3063240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40696" y="2560320"/>
            <a:ext cx="640080" cy="640080"/>
          </a:xfrm>
          <a:prstGeom prst="ellips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0716" y="2720339"/>
            <a:ext cx="320040" cy="320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963656" y="2395728"/>
            <a:ext cx="19202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414244"/>
                </a:solidFill>
                <a:latin typeface="Corbel"/>
              </a:rPr>
              <a:t>Student recruitment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orbel"/>
              </a:rPr>
              <a:t>Qualified traffic, enquiries, applications and cost per outcome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57416" y="3611880"/>
            <a:ext cx="3063240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940296" y="3886200"/>
            <a:ext cx="640080" cy="640080"/>
          </a:xfrm>
          <a:prstGeom prst="ellips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oo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0316" y="4046220"/>
            <a:ext cx="320040" cy="3200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763256" y="3721608"/>
            <a:ext cx="19202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414244"/>
                </a:solidFill>
                <a:latin typeface="Corbel"/>
              </a:rPr>
              <a:t>Research visibility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orbel"/>
              </a:rPr>
              <a:t>Quality readership, referral traffic and search visibility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57816" y="3611880"/>
            <a:ext cx="3063240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40696" y="3886200"/>
            <a:ext cx="640080" cy="640080"/>
          </a:xfrm>
          <a:prstGeom prst="ellips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handshak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0716" y="4046220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963656" y="3721608"/>
            <a:ext cx="19202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414244"/>
                </a:solidFill>
                <a:latin typeface="Corbel"/>
              </a:rPr>
              <a:t>Stakeholder engagement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orbel"/>
              </a:rPr>
              <a:t>Government, funder, alumni and donor engagement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57416" y="4937760"/>
            <a:ext cx="3063240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940296" y="5212080"/>
            <a:ext cx="640080" cy="640080"/>
          </a:xfrm>
          <a:prstGeom prst="ellips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laye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0316" y="5372100"/>
            <a:ext cx="320040" cy="32004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763256" y="5047488"/>
            <a:ext cx="19202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414244"/>
                </a:solidFill>
                <a:latin typeface="Corbel"/>
              </a:rPr>
              <a:t>Brand direction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orbel"/>
              </a:rPr>
              <a:t>Consistency with the approved narrative and architecture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57816" y="4937760"/>
            <a:ext cx="3063240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140696" y="5212080"/>
            <a:ext cx="640080" cy="640080"/>
          </a:xfrm>
          <a:prstGeom prst="ellips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lag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0716" y="5372100"/>
            <a:ext cx="320040" cy="32004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963656" y="5047488"/>
            <a:ext cx="19202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414244"/>
                </a:solidFill>
                <a:latin typeface="Corbel"/>
              </a:rPr>
              <a:t>Thrive UP 2038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orbel"/>
              </a:rPr>
              <a:t>Campaign indicators linked to strategic goals, without overclaiming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355080"/>
            <a:ext cx="125181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Every KPI in a campaign plan is mapped to one of these outcomes before the campaign launches.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r>
              <a:t>How we handle the limits of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4023360" cy="868680"/>
          </a:xfrm>
          <a:prstGeom prst="rect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" y="1703070"/>
            <a:ext cx="297180" cy="2971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1417320"/>
            <a:ext cx="2926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orbel"/>
              </a:rPr>
              <a:t>Directly attributable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4023360" cy="3337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0000"/>
                </a:solidFill>
                <a:latin typeface="Corbel"/>
              </a:rPr>
              <a:t>WHAT IT COVERS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Clicks, leads, enquiries and applications that can be followed from advertisement to 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38728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0000"/>
                </a:solidFill>
                <a:latin typeface="Corbel"/>
              </a:rPr>
              <a:t>HOW WE MEASURE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UTMs, pixels, conversion APIs and offline conversion uploads.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08576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0000"/>
                </a:solidFill>
                <a:latin typeface="Corbel"/>
              </a:rPr>
              <a:t>HOW WE REPORT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64608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As a result, with the tracking source named.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0307" y="1417320"/>
            <a:ext cx="4023360" cy="868680"/>
          </a:xfrm>
          <a:prstGeom prst="rect">
            <a:avLst/>
          </a:prstGeom>
          <a:solidFill>
            <a:srgbClr val="FFD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78907" y="1554480"/>
            <a:ext cx="594360" cy="594360"/>
          </a:xfrm>
          <a:prstGeom prst="ellips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ar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497" y="1703070"/>
            <a:ext cx="297180" cy="2971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56148" y="1417320"/>
            <a:ext cx="2926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414244"/>
                </a:solidFill>
                <a:latin typeface="Corbel"/>
              </a:rPr>
              <a:t>Contribution, not proof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0307" y="2286000"/>
            <a:ext cx="4023360" cy="3337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78907" y="246888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0000"/>
                </a:solidFill>
                <a:latin typeface="Corbel"/>
              </a:rPr>
              <a:t>WHAT IT COVERS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8907" y="2724912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Awareness, reputation and research visibility, where media is one of many influences.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78907" y="3538728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0000"/>
                </a:solidFill>
                <a:latin typeface="Corbel"/>
              </a:rPr>
              <a:t>HOW WE MEASURE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78907" y="379476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Before and after comparisons, brand lift, search trends, share of search and sentiment.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8907" y="4608576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0000"/>
                </a:solidFill>
                <a:latin typeface="Corbel"/>
              </a:rPr>
              <a:t>HOW WE REPORT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78907" y="4864608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As evidence of contribution, with the method stated.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97696" y="1417320"/>
            <a:ext cx="4023360" cy="8686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26296" y="15544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warn_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886" y="1703070"/>
            <a:ext cx="297180" cy="2971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003536" y="1417320"/>
            <a:ext cx="2926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orbel"/>
              </a:rPr>
              <a:t>Cannot be attributed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97696" y="2286000"/>
            <a:ext cx="4023360" cy="3337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46888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0000"/>
                </a:solidFill>
                <a:latin typeface="Corbel"/>
              </a:rPr>
              <a:t>WHAT IT COVERS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6296" y="2724912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Ranking movements, application-system effects and word of mouth.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26296" y="3538728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0000"/>
                </a:solidFill>
                <a:latin typeface="Corbel"/>
              </a:rPr>
              <a:t>HOW WE MEASURE 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6296" y="379476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We do not model what the data cannot support.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6" y="4608576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0000"/>
                </a:solidFill>
                <a:latin typeface="Corbel"/>
              </a:rPr>
              <a:t>HOW WE REPORT 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6296" y="4864608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As context, flagged as a limitation. We do not claim credit.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760720"/>
            <a:ext cx="12518136" cy="914400"/>
          </a:xfrm>
          <a:prstGeom prst="rect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806440"/>
            <a:ext cx="1196949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DF00"/>
                </a:solidFill>
                <a:latin typeface="Corbel"/>
              </a:rPr>
              <a:t>Every report carries a data appendix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orbel"/>
              </a:rPr>
              <a:t>It lists definitions, date ranges, attribution windows, excluded data and known tracking gaps, so UP can see what each number means and what it cannot show.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r>
              <a:t>One data flow, from platform to executive dashboard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417320"/>
            <a:ext cx="914400" cy="914400"/>
          </a:xfrm>
          <a:prstGeom prst="ellips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ta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57200" cy="45720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1508760" y="1874519"/>
            <a:ext cx="1449323" cy="0"/>
          </a:xfrm>
          <a:prstGeom prst="line">
            <a:avLst/>
          </a:prstGeom>
          <a:ln w="317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02920" y="2514600"/>
            <a:ext cx="2331720" cy="3108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14244"/>
                </a:solidFill>
                <a:latin typeface="Corbel"/>
              </a:rPr>
              <a:t>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1965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Meta, LinkedIn and TikTok</a:t>
            </a:r>
          </a:p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Google Ads and GA4</a:t>
            </a:r>
          </a:p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Publisher and media-owner reports</a:t>
            </a:r>
          </a:p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UP website and CRM data</a:t>
            </a:r>
          </a:p>
        </p:txBody>
      </p:sp>
      <p:sp>
        <p:nvSpPr>
          <p:cNvPr id="11" name="Oval 10"/>
          <p:cNvSpPr/>
          <p:nvPr/>
        </p:nvSpPr>
        <p:spPr>
          <a:xfrm>
            <a:off x="3049524" y="1417320"/>
            <a:ext cx="914400" cy="9144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lu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124" y="1645920"/>
            <a:ext cx="457200" cy="457200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4055364" y="1874519"/>
            <a:ext cx="1449324" cy="0"/>
          </a:xfrm>
          <a:prstGeom prst="line">
            <a:avLst/>
          </a:prstGeom>
          <a:ln w="317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049524" y="2514600"/>
            <a:ext cx="2331720" cy="3108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2404" y="265176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14244"/>
                </a:solidFill>
                <a:latin typeface="Corbel"/>
              </a:rPr>
              <a:t>Connect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2404" y="3108960"/>
            <a:ext cx="1965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Supermetrics pulls platform data on a schedule</a:t>
            </a:r>
          </a:p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Publisher proof of placement is loaded alongside</a:t>
            </a:r>
          </a:p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Read access on UP-owned accounts only</a:t>
            </a:r>
          </a:p>
        </p:txBody>
      </p:sp>
      <p:sp>
        <p:nvSpPr>
          <p:cNvPr id="17" name="Oval 16"/>
          <p:cNvSpPr/>
          <p:nvPr/>
        </p:nvSpPr>
        <p:spPr>
          <a:xfrm>
            <a:off x="5596127" y="1417320"/>
            <a:ext cx="914400" cy="914400"/>
          </a:xfrm>
          <a:prstGeom prst="ellips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ear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727" y="1645920"/>
            <a:ext cx="457200" cy="457200"/>
          </a:xfrm>
          <a:prstGeom prst="rect">
            <a:avLst/>
          </a:prstGeom>
        </p:spPr>
      </p:pic>
      <p:cxnSp>
        <p:nvCxnSpPr>
          <p:cNvPr id="19" name="Connector 18"/>
          <p:cNvCxnSpPr/>
          <p:nvPr/>
        </p:nvCxnSpPr>
        <p:spPr>
          <a:xfrm>
            <a:off x="6601967" y="1874519"/>
            <a:ext cx="1449324" cy="0"/>
          </a:xfrm>
          <a:prstGeom prst="line">
            <a:avLst/>
          </a:prstGeom>
          <a:ln w="317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596127" y="2514600"/>
            <a:ext cx="2331720" cy="3108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79007" y="265176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14244"/>
                </a:solidFill>
                <a:latin typeface="Corbel"/>
              </a:rPr>
              <a:t>Check and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9007" y="3108960"/>
            <a:ext cx="1965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Gaps, duplicates and spikes flagged</a:t>
            </a:r>
          </a:p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One definition for every metric</a:t>
            </a:r>
          </a:p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Spend reconciled to the approved budget</a:t>
            </a:r>
          </a:p>
        </p:txBody>
      </p:sp>
      <p:sp>
        <p:nvSpPr>
          <p:cNvPr id="23" name="Oval 22"/>
          <p:cNvSpPr/>
          <p:nvPr/>
        </p:nvSpPr>
        <p:spPr>
          <a:xfrm>
            <a:off x="8142731" y="1417320"/>
            <a:ext cx="914400" cy="9144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ar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1331" y="1645920"/>
            <a:ext cx="457200" cy="457200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9148572" y="1874519"/>
            <a:ext cx="1449323" cy="0"/>
          </a:xfrm>
          <a:prstGeom prst="line">
            <a:avLst/>
          </a:prstGeom>
          <a:ln w="317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142731" y="2514600"/>
            <a:ext cx="2331720" cy="3108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5611" y="265176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14244"/>
                </a:solidFill>
                <a:latin typeface="Corbel"/>
              </a:rPr>
              <a:t>Visualise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5611" y="3108960"/>
            <a:ext cx="1965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Power BI for the executive view</a:t>
            </a:r>
          </a:p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Looker Studio for live campaign views</a:t>
            </a:r>
          </a:p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The same figures in every report</a:t>
            </a:r>
          </a:p>
        </p:txBody>
      </p:sp>
      <p:sp>
        <p:nvSpPr>
          <p:cNvPr id="29" name="Oval 28"/>
          <p:cNvSpPr/>
          <p:nvPr/>
        </p:nvSpPr>
        <p:spPr>
          <a:xfrm>
            <a:off x="10689336" y="1417320"/>
            <a:ext cx="914400" cy="914400"/>
          </a:xfrm>
          <a:prstGeom prst="ellips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i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7936" y="1645920"/>
            <a:ext cx="457200" cy="4572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0689336" y="2514600"/>
            <a:ext cx="2331720" cy="3108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72215" y="265176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14244"/>
                </a:solidFill>
                <a:latin typeface="Corbel"/>
              </a:rPr>
              <a:t>Deliver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72215" y="3108960"/>
            <a:ext cx="1965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One-page executive dashboard</a:t>
            </a:r>
          </a:p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Monthly and close-out reports</a:t>
            </a:r>
          </a:p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Actions tracked in monday.com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806440"/>
            <a:ext cx="12518136" cy="822960"/>
          </a:xfrm>
          <a:prstGeom prst="rect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DF00"/>
                </a:solidFill>
                <a:latin typeface="Corbel"/>
              </a:rPr>
              <a:t>Built on UP-owned accounts  </a:t>
            </a:r>
            <a:r>
              <a:rPr sz="1400" b="0" i="0">
                <a:solidFill>
                  <a:srgbClr val="FFFFFF"/>
                </a:solidFill>
                <a:latin typeface="Corbel"/>
              </a:rPr>
              <a:t>with named users and multi-factor authentication. Dashboards and source data can be exported to UP at any time. See section 10.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r>
              <a:t>Reports and reviews run on a fixed rhythm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2450592"/>
            <a:ext cx="12518136" cy="0"/>
          </a:xfrm>
          <a:prstGeom prst="line">
            <a:avLst/>
          </a:prstGeom>
          <a:ln w="381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1417320"/>
            <a:ext cx="1938528" cy="384048"/>
          </a:xfrm>
          <a:prstGeom prst="roundRect">
            <a:avLst>
              <a:gd name="adj" fmla="val 50000"/>
            </a:avLst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rbel"/>
              </a:rPr>
              <a:t>WEEKLY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011680"/>
            <a:ext cx="868680" cy="8686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lock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2228850"/>
            <a:ext cx="434340" cy="4343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017520"/>
            <a:ext cx="1938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14244"/>
                </a:solidFill>
                <a:latin typeface="Corbel"/>
              </a:rPr>
              <a:t>Weekly performance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57600"/>
            <a:ext cx="193852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orbel"/>
              </a:rPr>
              <a:t>Spend, pacing, movements, issues, actions taken and decisions needed.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18841" y="1417320"/>
            <a:ext cx="1938528" cy="384048"/>
          </a:xfrm>
          <a:prstGeom prst="roundRect">
            <a:avLst>
              <a:gd name="adj" fmla="val 50000"/>
            </a:avLst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rbel"/>
              </a:rPr>
              <a:t>MONTHLY</a:t>
            </a:r>
          </a:p>
        </p:txBody>
      </p:sp>
      <p:sp>
        <p:nvSpPr>
          <p:cNvPr id="12" name="Oval 11"/>
          <p:cNvSpPr/>
          <p:nvPr/>
        </p:nvSpPr>
        <p:spPr>
          <a:xfrm>
            <a:off x="2618841" y="2011680"/>
            <a:ext cx="868680" cy="8686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abl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011" y="2228850"/>
            <a:ext cx="434340" cy="4343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618841" y="3017520"/>
            <a:ext cx="1938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14244"/>
                </a:solidFill>
                <a:latin typeface="Corbel"/>
              </a:rPr>
              <a:t>Monthly campaign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841" y="3657600"/>
            <a:ext cx="193852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orbel"/>
              </a:rPr>
              <a:t>By the fifth business day of the next month. Covers all active and recent campaigns.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4763" y="1417320"/>
            <a:ext cx="1938528" cy="384048"/>
          </a:xfrm>
          <a:prstGeom prst="roundRect">
            <a:avLst>
              <a:gd name="adj" fmla="val 50000"/>
            </a:avLst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rbel"/>
              </a:rPr>
              <a:t>PER CAMPAIGN</a:t>
            </a:r>
          </a:p>
        </p:txBody>
      </p:sp>
      <p:sp>
        <p:nvSpPr>
          <p:cNvPr id="17" name="Oval 16"/>
          <p:cNvSpPr/>
          <p:nvPr/>
        </p:nvSpPr>
        <p:spPr>
          <a:xfrm>
            <a:off x="4734763" y="2011680"/>
            <a:ext cx="868680" cy="8686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1933" y="2228850"/>
            <a:ext cx="434340" cy="4343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34763" y="3017520"/>
            <a:ext cx="1938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14244"/>
                </a:solidFill>
                <a:latin typeface="Corbel"/>
              </a:rPr>
              <a:t>Campaign close-out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4763" y="3657600"/>
            <a:ext cx="193852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orbel"/>
              </a:rPr>
              <a:t>Within ten business days of completion. Includes reconciliation and learnings.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0684" y="1417320"/>
            <a:ext cx="1938528" cy="384048"/>
          </a:xfrm>
          <a:prstGeom prst="roundRect">
            <a:avLst>
              <a:gd name="adj" fmla="val 50000"/>
            </a:avLst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rbel"/>
              </a:rPr>
              <a:t>MONTHLY</a:t>
            </a:r>
          </a:p>
        </p:txBody>
      </p:sp>
      <p:sp>
        <p:nvSpPr>
          <p:cNvPr id="22" name="Oval 21"/>
          <p:cNvSpPr/>
          <p:nvPr/>
        </p:nvSpPr>
        <p:spPr>
          <a:xfrm>
            <a:off x="6850684" y="2011680"/>
            <a:ext cx="868680" cy="8686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ey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7854" y="2228850"/>
            <a:ext cx="434340" cy="4343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50684" y="3017520"/>
            <a:ext cx="1938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14244"/>
                </a:solidFill>
                <a:latin typeface="Corbel"/>
              </a:rPr>
              <a:t>Institutional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0684" y="3657600"/>
            <a:ext cx="193852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orbel"/>
              </a:rPr>
              <a:t>Competitors, reputation, search, media and stakeholder insight, with risks and opportunities.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6606" y="1417320"/>
            <a:ext cx="1938528" cy="384048"/>
          </a:xfrm>
          <a:prstGeom prst="roundRect">
            <a:avLst>
              <a:gd name="adj" fmla="val 50000"/>
            </a:avLst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rbel"/>
              </a:rPr>
              <a:t>QUARTERLY</a:t>
            </a:r>
          </a:p>
        </p:txBody>
      </p:sp>
      <p:sp>
        <p:nvSpPr>
          <p:cNvPr id="27" name="Oval 26"/>
          <p:cNvSpPr/>
          <p:nvPr/>
        </p:nvSpPr>
        <p:spPr>
          <a:xfrm>
            <a:off x="8966606" y="2011680"/>
            <a:ext cx="868680" cy="8686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bullsey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3776" y="2228850"/>
            <a:ext cx="434340" cy="4343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966606" y="3017520"/>
            <a:ext cx="1938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14244"/>
                </a:solidFill>
                <a:latin typeface="Corbel"/>
              </a:rPr>
              <a:t>Strategic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6606" y="3657600"/>
            <a:ext cx="193852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orbel"/>
              </a:rPr>
              <a:t>Executive synthesis of performance, trends, budget, testing roadmap and recommendations.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082528" y="1417320"/>
            <a:ext cx="1938528" cy="384048"/>
          </a:xfrm>
          <a:prstGeom prst="roundRect">
            <a:avLst>
              <a:gd name="adj" fmla="val 50000"/>
            </a:avLst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rbel"/>
              </a:rPr>
              <a:t>ANNUAL</a:t>
            </a:r>
          </a:p>
        </p:txBody>
      </p:sp>
      <p:sp>
        <p:nvSpPr>
          <p:cNvPr id="32" name="Oval 31"/>
          <p:cNvSpPr/>
          <p:nvPr/>
        </p:nvSpPr>
        <p:spPr>
          <a:xfrm>
            <a:off x="11082528" y="2011680"/>
            <a:ext cx="868680" cy="8686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lag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99698" y="2228850"/>
            <a:ext cx="434340" cy="4343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082528" y="3017520"/>
            <a:ext cx="1938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14244"/>
                </a:solidFill>
                <a:latin typeface="Corbel"/>
              </a:rPr>
              <a:t>Brand and digital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82528" y="3657600"/>
            <a:ext cx="193852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orbel"/>
              </a:rPr>
              <a:t>Year-on-year analysis, long-term trends, contribution to objectives and next-year priorities.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937760"/>
            <a:ext cx="12518136" cy="685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orbel"/>
              </a:rPr>
              <a:t>Urgent issue report:  </a:t>
            </a:r>
            <a:r>
              <a:rPr sz="1400" b="0" i="0">
                <a:solidFill>
                  <a:srgbClr val="FFFFFF"/>
                </a:solidFill>
                <a:latin typeface="Corbel"/>
              </a:rPr>
              <a:t>immediate notification and a written assessment of overspend, tracking failure, reputational risk, wrong placement or account compromise.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7607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14244"/>
                </a:solidFill>
                <a:latin typeface="Corbel"/>
              </a:rPr>
              <a:t>EVERY REPORT ANSWERS FOUR QUESTIONS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053328"/>
            <a:ext cx="3017520" cy="594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12648" y="6144768"/>
            <a:ext cx="411480" cy="411480"/>
          </a:xfrm>
          <a:prstGeom prst="ellipse">
            <a:avLst/>
          </a:prstGeom>
          <a:solidFill>
            <a:srgbClr val="FFD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6053328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What happened?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69792" y="6053328"/>
            <a:ext cx="3017520" cy="594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779520" y="6144768"/>
            <a:ext cx="411480" cy="411480"/>
          </a:xfrm>
          <a:prstGeom prst="ellipse">
            <a:avLst/>
          </a:prstGeom>
          <a:solidFill>
            <a:srgbClr val="FFD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09872" y="6053328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Why did it happen?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36664" y="6053328"/>
            <a:ext cx="3017520" cy="594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946392" y="6144768"/>
            <a:ext cx="411480" cy="411480"/>
          </a:xfrm>
          <a:prstGeom prst="ellipse">
            <a:avLst/>
          </a:prstGeom>
          <a:solidFill>
            <a:srgbClr val="FFD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76743" y="6053328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What did we learn?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03536" y="6053328"/>
            <a:ext cx="3017520" cy="594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113264" y="6144768"/>
            <a:ext cx="411480" cy="411480"/>
          </a:xfrm>
          <a:prstGeom prst="ellipse">
            <a:avLst/>
          </a:prstGeom>
          <a:solidFill>
            <a:srgbClr val="FFD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43616" y="6053328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What should change?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r>
              <a:t>What the executive dashboard and monthly report contain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6309360" cy="5257800"/>
          </a:xfrm>
          <a:prstGeom prst="roundRect">
            <a:avLst>
              <a:gd name="adj" fmla="val 3000"/>
            </a:avLst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rbel"/>
              </a:rPr>
              <a:t>ONE-PAGE EXECUTIVE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5544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1">
                <a:solidFill>
                  <a:srgbClr val="FFDF00"/>
                </a:solidFill>
                <a:latin typeface="Corbel"/>
              </a:rPr>
              <a:t>Layout only, no live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28575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2583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14244"/>
                </a:solidFill>
                <a:latin typeface="Corbel"/>
              </a:rPr>
              <a:t>Objective and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25831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F7F7F"/>
                </a:solidFill>
                <a:latin typeface="Corbel"/>
              </a:rPr>
              <a:t>RAG status with a brief explanation</a:t>
            </a:r>
          </a:p>
        </p:txBody>
      </p:sp>
      <p:sp>
        <p:nvSpPr>
          <p:cNvPr id="11" name="Oval 10"/>
          <p:cNvSpPr/>
          <p:nvPr/>
        </p:nvSpPr>
        <p:spPr>
          <a:xfrm>
            <a:off x="2583179" y="2075688"/>
            <a:ext cx="219456" cy="21945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75787" y="2075688"/>
            <a:ext cx="219456" cy="21945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68396" y="2075688"/>
            <a:ext cx="219456" cy="219456"/>
          </a:xfrm>
          <a:prstGeom prst="ellipse">
            <a:avLst/>
          </a:prstGeom>
          <a:solidFill>
            <a:srgbClr val="5F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26180" y="1965960"/>
            <a:ext cx="28575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3340" y="2057400"/>
            <a:ext cx="2583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14244"/>
                </a:solidFill>
                <a:latin typeface="Corbel"/>
              </a:rPr>
              <a:t>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3340" y="2331720"/>
            <a:ext cx="25831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F7F7F"/>
                </a:solidFill>
                <a:latin typeface="Corbel"/>
              </a:rPr>
              <a:t>Approved, committed, delivered, invoiced, forecast and variance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063240"/>
            <a:ext cx="28575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154680"/>
            <a:ext cx="2583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14244"/>
                </a:solidFill>
                <a:latin typeface="Corbel"/>
              </a:rPr>
              <a:t>Headline performance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3429000"/>
            <a:ext cx="2583180" cy="14630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3429000"/>
            <a:ext cx="2066544" cy="146304"/>
          </a:xfrm>
          <a:prstGeom prst="rect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76906" y="3383280"/>
            <a:ext cx="36576" cy="23774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3685032"/>
            <a:ext cx="2583180" cy="14630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3685032"/>
            <a:ext cx="1420749" cy="146304"/>
          </a:xfrm>
          <a:prstGeom prst="rect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76906" y="3639312"/>
            <a:ext cx="36576" cy="23774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3941064"/>
            <a:ext cx="2583180" cy="14630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" y="3941064"/>
            <a:ext cx="1679067" cy="146304"/>
          </a:xfrm>
          <a:prstGeom prst="rect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76906" y="3895344"/>
            <a:ext cx="36576" cy="23774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178808"/>
            <a:ext cx="25831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Corbel"/>
              </a:rPr>
              <a:t>Three to five indicators against target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26180" y="3063240"/>
            <a:ext cx="28575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63340" y="3154680"/>
            <a:ext cx="2583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14244"/>
                </a:solidFill>
                <a:latin typeface="Corbel"/>
              </a:rPr>
              <a:t>Strategic contribution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00500" y="4023360"/>
            <a:ext cx="292608" cy="3200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57700" y="3794760"/>
            <a:ext cx="292608" cy="5486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14900" y="3931920"/>
            <a:ext cx="292608" cy="4114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72100" y="3657600"/>
            <a:ext cx="292608" cy="685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29300" y="3840480"/>
            <a:ext cx="292608" cy="5029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4572000"/>
            <a:ext cx="58521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66344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14244"/>
                </a:solidFill>
                <a:latin typeface="Corbel"/>
              </a:rPr>
              <a:t>Key insight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937760"/>
            <a:ext cx="557784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F7F7F"/>
                </a:solidFill>
                <a:latin typeface="Corbel"/>
              </a:rPr>
              <a:t>What happened, why it matters and the evidence behind 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486400"/>
            <a:ext cx="28575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577840"/>
            <a:ext cx="2583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14244"/>
                </a:solidFill>
                <a:latin typeface="Corbel"/>
              </a:rPr>
              <a:t>Risk or issue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852160"/>
            <a:ext cx="25831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F7F7F"/>
                </a:solidFill>
                <a:latin typeface="Corbel"/>
              </a:rPr>
              <a:t>Data limits, underperformance or governance concerns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26180" y="5486400"/>
            <a:ext cx="28575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63340" y="5577840"/>
            <a:ext cx="2583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14244"/>
                </a:solidFill>
                <a:latin typeface="Corbel"/>
              </a:rPr>
              <a:t>Action and decision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63340" y="5852160"/>
            <a:ext cx="25831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F7F7F"/>
                </a:solidFill>
                <a:latin typeface="Corbel"/>
              </a:rPr>
              <a:t>Recommended action, owner, due date and decision needed from 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14173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00000"/>
                </a:solidFill>
                <a:latin typeface="Corbel"/>
              </a:rPr>
              <a:t>MONTHLY REPORT: 13 REQUIRED SECTIONS, GROUPED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86600" y="1783080"/>
            <a:ext cx="2907792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086600" y="1783080"/>
            <a:ext cx="2907792" cy="457200"/>
          </a:xfrm>
          <a:prstGeom prst="rect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orbel"/>
              </a:rPr>
              <a:t>Decide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51192" y="2377440"/>
            <a:ext cx="2578608" cy="1691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1  Executive summary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2  Objective and KPI scorecard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12  Recommendations and action plan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22408" y="1783080"/>
            <a:ext cx="2907792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122408" y="1783080"/>
            <a:ext cx="2907792" cy="457200"/>
          </a:xfrm>
          <a:prstGeom prst="rect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orbel"/>
              </a:rPr>
              <a:t>Money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2377440"/>
            <a:ext cx="2578608" cy="1691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3  Budget and spend reconciliation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4  Media delivery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7  Publisher and publication performance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86600" y="4251960"/>
            <a:ext cx="2907792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251960"/>
            <a:ext cx="2907792" cy="457200"/>
          </a:xfrm>
          <a:prstGeom prst="rect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orbel"/>
              </a:rPr>
              <a:t>Performance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51192" y="4846320"/>
            <a:ext cx="2578608" cy="1691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5  Audience performance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6  Creative and copy performance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8  Geographic and international analysis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122408" y="4251960"/>
            <a:ext cx="2907792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122408" y="4251960"/>
            <a:ext cx="2907792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orbel"/>
              </a:rPr>
              <a:t>Learn and protect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87000" y="4846320"/>
            <a:ext cx="2578608" cy="1691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9  Brand safety and quality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10  Optimisation log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11  Insights and interpretation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13  Data appendix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r>
              <a:t>Turning insight into action</a:t>
            </a:r>
          </a:p>
        </p:txBody>
      </p:sp>
      <p:sp>
        <p:nvSpPr>
          <p:cNvPr id="5" name="Oval 4"/>
          <p:cNvSpPr/>
          <p:nvPr/>
        </p:nvSpPr>
        <p:spPr>
          <a:xfrm>
            <a:off x="1325880" y="2240280"/>
            <a:ext cx="4572000" cy="3566160"/>
          </a:xfrm>
          <a:prstGeom prst="ellipse">
            <a:avLst/>
          </a:prstGeom>
          <a:noFill/>
          <a:ln w="508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80360" y="3291840"/>
            <a:ext cx="1463040" cy="14630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ync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3657600"/>
            <a:ext cx="731520" cy="731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560320" y="1810512"/>
            <a:ext cx="2103120" cy="859536"/>
          </a:xfrm>
          <a:prstGeom prst="roundRect">
            <a:avLst>
              <a:gd name="adj" fmla="val 12000"/>
            </a:avLst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DF00"/>
                </a:solidFill>
                <a:latin typeface="Corbel"/>
              </a:rPr>
              <a:t>1  Monitor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orbel"/>
              </a:rPr>
              <a:t>Pacing, quality and saturation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0054" y="2702052"/>
            <a:ext cx="2103120" cy="859536"/>
          </a:xfrm>
          <a:prstGeom prst="roundRect">
            <a:avLst>
              <a:gd name="adj" fmla="val 12000"/>
            </a:avLst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DF00"/>
                </a:solidFill>
                <a:latin typeface="Corbel"/>
              </a:rPr>
              <a:t>2  Diagnose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orbel"/>
              </a:rPr>
              <a:t>Audience, creative, placement,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0054" y="4485132"/>
            <a:ext cx="2103120" cy="859536"/>
          </a:xfrm>
          <a:prstGeom prst="roundRect">
            <a:avLst>
              <a:gd name="adj" fmla="val 12000"/>
            </a:avLst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DF00"/>
                </a:solidFill>
                <a:latin typeface="Corbel"/>
              </a:rPr>
              <a:t>3  Recommend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orbel"/>
              </a:rPr>
              <a:t>Action, owner, expected effect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5376672"/>
            <a:ext cx="2103120" cy="859536"/>
          </a:xfrm>
          <a:prstGeom prst="roundRect">
            <a:avLst>
              <a:gd name="adj" fmla="val 12000"/>
            </a:avLst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DF00"/>
                </a:solidFill>
                <a:latin typeface="Corbel"/>
              </a:rPr>
              <a:t>4  Approve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orbel"/>
              </a:rPr>
              <a:t>Written UP approval where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585" y="4485132"/>
            <a:ext cx="2103120" cy="859536"/>
          </a:xfrm>
          <a:prstGeom prst="roundRect">
            <a:avLst>
              <a:gd name="adj" fmla="val 12000"/>
            </a:avLst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DF00"/>
                </a:solidFill>
                <a:latin typeface="Corbel"/>
              </a:rPr>
              <a:t>5  Change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orbel"/>
              </a:rPr>
              <a:t>Budget, bids, targeting, creative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585" y="2702052"/>
            <a:ext cx="2103120" cy="859536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DF00"/>
                </a:solidFill>
                <a:latin typeface="Corbel"/>
              </a:rPr>
              <a:t>6  Log and learn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orbel"/>
              </a:rPr>
              <a:t>Dated entry with reason and 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417320"/>
            <a:ext cx="5705856" cy="1645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43800" y="1920240"/>
            <a:ext cx="640080" cy="6400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ol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820" y="2080260"/>
            <a:ext cx="320040" cy="320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12480" y="1554480"/>
            <a:ext cx="44348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414244"/>
                </a:solidFill>
                <a:latin typeface="Corbel"/>
              </a:rPr>
              <a:t>Optimisation rules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Small budget moves inside an agreed tolerance are made quickly and logged. Larger moves wait for written UP approval.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3200400"/>
            <a:ext cx="5705856" cy="1645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43800" y="3703320"/>
            <a:ext cx="640080" cy="6400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abl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820" y="3863339"/>
            <a:ext cx="320040" cy="320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12480" y="3337560"/>
            <a:ext cx="44348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414244"/>
                </a:solidFill>
                <a:latin typeface="Corbel"/>
              </a:rPr>
              <a:t>Test roadmap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One variable at a time: audience, copy, creative, format, offer or landing page. Each test states its hypothesis and decision rule first.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4983480"/>
            <a:ext cx="5705856" cy="1645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43800" y="5486400"/>
            <a:ext cx="640080" cy="6400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ox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820" y="5646420"/>
            <a:ext cx="320040" cy="320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12480" y="5120640"/>
            <a:ext cx="44348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414244"/>
                </a:solidFill>
                <a:latin typeface="Corbel"/>
              </a:rPr>
              <a:t>Learnings stay with UP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Results go into UP's repository of approved messages, claims and benchmarks, so knowledge outlasts any change of supplier.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6FE37-534A-512A-AA94-47520E2FCF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Brand Leadership 2024</a:t>
            </a:r>
          </a:p>
          <a:p>
            <a:r>
              <a:rPr lang="en-US" dirty="0"/>
              <a:t>
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B765-8B9B-BDAC-53D0-F6B7DDE6C7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4CB291-45E4-BD43-ACFB-6AA0D715F83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89C4B-F387-9542-52A0-870306CED9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GOVERNANCE, DATA, AI AND RISK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890C4A-68E6-DD28-68A0-AE07981D30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8000" b="1">
                <a:solidFill>
                  <a:srgbClr val="FFFFFF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r>
              <a:t>Governance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916936" cy="2468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64592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ey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840230"/>
            <a:ext cx="388620" cy="3886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560320"/>
            <a:ext cx="23682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14244"/>
                </a:solidFill>
                <a:latin typeface="Corbel"/>
              </a:rPr>
              <a:t>Account and data ownership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23682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UP owns every account, pixel, audience, dashboard and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1417320"/>
            <a:ext cx="2916936" cy="2468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77639" y="1645920"/>
            <a:ext cx="777240" cy="777240"/>
          </a:xfrm>
          <a:prstGeom prst="ellips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iel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950" y="1840230"/>
            <a:ext cx="388620" cy="3886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77639" y="2560320"/>
            <a:ext cx="23682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14244"/>
                </a:solidFill>
                <a:latin typeface="Corbel"/>
              </a:rPr>
              <a:t>POPIA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3154680"/>
            <a:ext cx="23682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Personal data is minimised, used only for the approved purpose and protected.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417320"/>
            <a:ext cx="2916936" cy="2468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78040" y="1645920"/>
            <a:ext cx="777240" cy="777240"/>
          </a:xfrm>
          <a:prstGeom prst="ellips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2350" y="1840230"/>
            <a:ext cx="388620" cy="3886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78040" y="2560320"/>
            <a:ext cx="23682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14244"/>
                </a:solidFill>
                <a:latin typeface="Corbel"/>
              </a:rP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154680"/>
            <a:ext cx="23682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Multi-factor authentication, named users and least-privilege access.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04120" y="1417320"/>
            <a:ext cx="2916936" cy="2468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378440" y="1645920"/>
            <a:ext cx="777240" cy="777240"/>
          </a:xfrm>
          <a:prstGeom prst="ellips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i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0" y="1840230"/>
            <a:ext cx="388620" cy="3886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78440" y="2560320"/>
            <a:ext cx="23682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14244"/>
                </a:solidFill>
                <a:latin typeface="Corbel"/>
              </a:rPr>
              <a:t>Intellectual property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3154680"/>
            <a:ext cx="23682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UP owns all work, supplied with editable source files.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023360"/>
            <a:ext cx="2916936" cy="2468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425196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robo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" y="4446270"/>
            <a:ext cx="388620" cy="3886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77240" y="5166360"/>
            <a:ext cx="23682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14244"/>
                </a:solidFill>
                <a:latin typeface="Corbel"/>
              </a:rPr>
              <a:t>Responsible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60720"/>
            <a:ext cx="23682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Disclosed, approved, reviewed by a person and logged.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3320" y="4023360"/>
            <a:ext cx="2916936" cy="2468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977639" y="4251960"/>
            <a:ext cx="777240" cy="777240"/>
          </a:xfrm>
          <a:prstGeom prst="ellips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alanc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1950" y="4446270"/>
            <a:ext cx="388620" cy="3886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977639" y="5166360"/>
            <a:ext cx="23682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14244"/>
                </a:solidFill>
                <a:latin typeface="Corbel"/>
              </a:rPr>
              <a:t>Conflicts of interest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39" y="5760720"/>
            <a:ext cx="23682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Disclosed up front, with separation of accounts and people where needed.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03720" y="4023360"/>
            <a:ext cx="2916936" cy="2468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178040" y="4251960"/>
            <a:ext cx="777240" cy="777240"/>
          </a:xfrm>
          <a:prstGeom prst="ellips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war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2350" y="4446270"/>
            <a:ext cx="388620" cy="3886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178040" y="5166360"/>
            <a:ext cx="23682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14244"/>
                </a:solidFill>
                <a:latin typeface="Corbel"/>
              </a:rPr>
              <a:t>Risk 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5760720"/>
            <a:ext cx="23682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A live risk register with owners, reviewed every month.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04120" y="4023360"/>
            <a:ext cx="2916936" cy="2468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378440" y="4251960"/>
            <a:ext cx="777240" cy="777240"/>
          </a:xfrm>
          <a:prstGeom prst="ellips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ell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4446270"/>
            <a:ext cx="388620" cy="38862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378440" y="5166360"/>
            <a:ext cx="23682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14244"/>
                </a:solidFill>
                <a:latin typeface="Corbel"/>
              </a:rPr>
              <a:t>Escalation and standards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78440" y="5760720"/>
            <a:ext cx="23682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Clear routes, response times and quality checks before work reaches UP.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r>
              <a:t>UP stays in control of its accounts and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852160" cy="1234440"/>
          </a:xfrm>
          <a:prstGeom prst="roundRect">
            <a:avLst>
              <a:gd name="adj" fmla="val 6000"/>
            </a:avLst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DF00"/>
                </a:solidFill>
                <a:latin typeface="Corbel"/>
              </a:rPr>
              <a:t>UP: owner and administrator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orbel"/>
              </a:rPr>
              <a:t>Owns every account, pixel, tag, audience, dashboard and file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17320" y="2697480"/>
            <a:ext cx="0" cy="502920"/>
          </a:xfrm>
          <a:prstGeom prst="line">
            <a:avLst/>
          </a:prstGeom>
          <a:ln w="381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45920" y="27889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7F7F7F"/>
                </a:solidFill>
                <a:latin typeface="Corbel"/>
              </a:rPr>
              <a:t>Grants named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46120"/>
            <a:ext cx="5852160" cy="123444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orbel"/>
              </a:rPr>
              <a:t>Our team: named users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orbel"/>
              </a:rPr>
              <a:t>Least-privilege access with multi-factor authentication, reviewed regularly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17320" y="4526280"/>
            <a:ext cx="0" cy="502920"/>
          </a:xfrm>
          <a:prstGeom prst="line">
            <a:avLst/>
          </a:prstGeom>
          <a:ln w="381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45920" y="46177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7F7F7F"/>
                </a:solidFill>
                <a:latin typeface="Corbel"/>
              </a:rPr>
              <a:t>Works inside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074920"/>
            <a:ext cx="5852160" cy="1234440"/>
          </a:xfrm>
          <a:prstGeom prst="roundRect">
            <a:avLst>
              <a:gd name="adj" fmla="val 6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414244"/>
                </a:solidFill>
                <a:latin typeface="Corbel"/>
              </a:rPr>
              <a:t>UP-owned or UP-approved platforms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14244"/>
                </a:solidFill>
                <a:latin typeface="Corbel"/>
              </a:rPr>
              <a:t>Meta, LinkedIn, TikTok, Google, Power BI, Looker Studio and monday.com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1417320"/>
            <a:ext cx="3099816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581912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0" y="15544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UP keeps administrator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3911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orbel"/>
              </a:rPr>
              <a:t>UP can view, export and transfer any material account without losing history.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21240" y="1417320"/>
            <a:ext cx="3099816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19" y="1581912"/>
            <a:ext cx="292608" cy="292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515600" y="15544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Campaigns run on UP accounts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4119" y="203911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orbel"/>
              </a:rPr>
              <a:t>Our own accounts are used only with written approval and a documented handover.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3081528"/>
            <a:ext cx="3099816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3246120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15200" y="321868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Named users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70332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orbel"/>
              </a:rPr>
              <a:t>No shared logins. Access is removed promptly when someone leaves the team.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1240" y="3081528"/>
            <a:ext cx="3099816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19" y="3246120"/>
            <a:ext cx="292608" cy="2926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515600" y="321868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No other 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19" y="370332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orbel"/>
              </a:rPr>
              <a:t>UP information is never used for other clients, our portfolio or model training.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0840" y="4745736"/>
            <a:ext cx="3099816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4910328"/>
            <a:ext cx="292608" cy="2926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315200" y="488289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Incidents are reported at once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536752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orbel"/>
              </a:rPr>
              <a:t>Any account or data incident goes to UP immediately through the agreed route.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21240" y="4745736"/>
            <a:ext cx="3099816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19" y="4910328"/>
            <a:ext cx="292608" cy="2926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515600" y="488289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Orderly handover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19" y="536752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orbel"/>
              </a:rPr>
              <a:t>Credentials, files, credits and status reports are handed over at the start, on personnel changes and at exit.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r>
              <a:t>POPIA and security built into every step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417320"/>
            <a:ext cx="822960" cy="822960"/>
          </a:xfrm>
          <a:prstGeom prst="ellips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1623060"/>
            <a:ext cx="411480" cy="41148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1417320" y="1828800"/>
            <a:ext cx="1540763" cy="0"/>
          </a:xfrm>
          <a:prstGeom prst="line">
            <a:avLst/>
          </a:prstGeom>
          <a:ln w="317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02920" y="2423160"/>
            <a:ext cx="2331720" cy="2514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4203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14244"/>
                </a:solidFill>
                <a:latin typeface="Corbel"/>
              </a:rPr>
              <a:t>1 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19659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Corbel"/>
              </a:rPr>
              <a:t>Collect only what the campaign needs</a:t>
            </a:r>
          </a:p>
          <a:p>
            <a:pPr algn="l" marL="182880" indent="-182880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Corbel"/>
              </a:rPr>
              <a:t>Confirm the lawful basis with UP</a:t>
            </a:r>
          </a:p>
          <a:p>
            <a:pPr algn="l" marL="182880" indent="-182880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Corbel"/>
              </a:rPr>
              <a:t>No sensitive personal data for targeting unless approved</a:t>
            </a:r>
          </a:p>
        </p:txBody>
      </p:sp>
      <p:sp>
        <p:nvSpPr>
          <p:cNvPr id="11" name="Oval 10"/>
          <p:cNvSpPr/>
          <p:nvPr/>
        </p:nvSpPr>
        <p:spPr>
          <a:xfrm>
            <a:off x="3049524" y="1417320"/>
            <a:ext cx="822960" cy="822960"/>
          </a:xfrm>
          <a:prstGeom prst="ellips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in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264" y="1623060"/>
            <a:ext cx="411480" cy="411480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3963924" y="1828800"/>
            <a:ext cx="1540764" cy="0"/>
          </a:xfrm>
          <a:prstGeom prst="line">
            <a:avLst/>
          </a:prstGeom>
          <a:ln w="317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049524" y="2423160"/>
            <a:ext cx="2331720" cy="2514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2404" y="254203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14244"/>
                </a:solidFill>
                <a:latin typeface="Corbel"/>
              </a:rPr>
              <a:t>2  Collect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2404" y="2971800"/>
            <a:ext cx="19659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Corbel"/>
              </a:rPr>
              <a:t>Consent-based tracking</a:t>
            </a:r>
          </a:p>
          <a:p>
            <a:pPr algn="l" marL="182880" indent="-182880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Corbel"/>
              </a:rPr>
              <a:t>Pixels and tags set up with UP technical teams</a:t>
            </a:r>
          </a:p>
          <a:p>
            <a:pPr algn="l" marL="182880" indent="-182880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Corbel"/>
              </a:rPr>
              <a:t>Minimal personal data</a:t>
            </a:r>
          </a:p>
        </p:txBody>
      </p:sp>
      <p:sp>
        <p:nvSpPr>
          <p:cNvPr id="17" name="Oval 16"/>
          <p:cNvSpPr/>
          <p:nvPr/>
        </p:nvSpPr>
        <p:spPr>
          <a:xfrm>
            <a:off x="5596127" y="1417320"/>
            <a:ext cx="822960" cy="8229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us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867" y="1623060"/>
            <a:ext cx="411480" cy="411480"/>
          </a:xfrm>
          <a:prstGeom prst="rect">
            <a:avLst/>
          </a:prstGeom>
        </p:spPr>
      </p:pic>
      <p:cxnSp>
        <p:nvCxnSpPr>
          <p:cNvPr id="19" name="Connector 18"/>
          <p:cNvCxnSpPr/>
          <p:nvPr/>
        </p:nvCxnSpPr>
        <p:spPr>
          <a:xfrm>
            <a:off x="6510527" y="1828800"/>
            <a:ext cx="1540764" cy="0"/>
          </a:xfrm>
          <a:prstGeom prst="line">
            <a:avLst/>
          </a:prstGeom>
          <a:ln w="317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596127" y="2423160"/>
            <a:ext cx="2331720" cy="2514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79007" y="254203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14244"/>
                </a:solidFill>
                <a:latin typeface="Corbel"/>
              </a:rPr>
              <a:t>3 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9007" y="2971800"/>
            <a:ext cx="19659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Corbel"/>
              </a:rPr>
              <a:t>Approved purpose only</a:t>
            </a:r>
          </a:p>
          <a:p>
            <a:pPr algn="l" marL="182880" indent="-182880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Corbel"/>
              </a:rPr>
              <a:t>Never shared with other clients</a:t>
            </a:r>
          </a:p>
          <a:p>
            <a:pPr algn="l" marL="182880" indent="-182880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Corbel"/>
              </a:rPr>
              <a:t>Never used to train models or tools</a:t>
            </a:r>
          </a:p>
        </p:txBody>
      </p:sp>
      <p:sp>
        <p:nvSpPr>
          <p:cNvPr id="23" name="Oval 22"/>
          <p:cNvSpPr/>
          <p:nvPr/>
        </p:nvSpPr>
        <p:spPr>
          <a:xfrm>
            <a:off x="8142731" y="1417320"/>
            <a:ext cx="822960" cy="822960"/>
          </a:xfrm>
          <a:prstGeom prst="ellips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o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1" y="1623060"/>
            <a:ext cx="411480" cy="411480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9057132" y="1828800"/>
            <a:ext cx="1540763" cy="0"/>
          </a:xfrm>
          <a:prstGeom prst="line">
            <a:avLst/>
          </a:prstGeom>
          <a:ln w="317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142731" y="2423160"/>
            <a:ext cx="2331720" cy="2514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5611" y="254203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14244"/>
                </a:solidFill>
                <a:latin typeface="Corbel"/>
              </a:rPr>
              <a:t>4  Protect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5611" y="2971800"/>
            <a:ext cx="19659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Corbel"/>
              </a:rPr>
              <a:t>Multi-factor authentication</a:t>
            </a:r>
          </a:p>
          <a:p>
            <a:pPr algn="l" marL="182880" indent="-182880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Corbel"/>
              </a:rPr>
              <a:t>Least-privilege, named access</a:t>
            </a:r>
          </a:p>
          <a:p>
            <a:pPr algn="l" marL="182880" indent="-182880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Corbel"/>
              </a:rPr>
              <a:t>Secure credential practices</a:t>
            </a:r>
          </a:p>
        </p:txBody>
      </p:sp>
      <p:sp>
        <p:nvSpPr>
          <p:cNvPr id="29" name="Oval 28"/>
          <p:cNvSpPr/>
          <p:nvPr/>
        </p:nvSpPr>
        <p:spPr>
          <a:xfrm>
            <a:off x="10689336" y="1417320"/>
            <a:ext cx="822960" cy="822960"/>
          </a:xfrm>
          <a:prstGeom prst="ellips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sync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5076" y="1623060"/>
            <a:ext cx="411480" cy="41148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0689336" y="2423160"/>
            <a:ext cx="2331720" cy="2514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72215" y="254203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14244"/>
                </a:solidFill>
                <a:latin typeface="Corbel"/>
              </a:rPr>
              <a:t>5  Return or delete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72215" y="2971800"/>
            <a:ext cx="19659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Corbel"/>
              </a:rPr>
              <a:t>Data and dashboards exported on request</a:t>
            </a:r>
          </a:p>
          <a:p>
            <a:pPr algn="l" marL="182880" indent="-182880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Corbel"/>
              </a:rPr>
              <a:t>Returned or deleted at contract end</a:t>
            </a:r>
          </a:p>
          <a:p>
            <a:pPr algn="l" marL="182880" indent="-182880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Corbel"/>
              </a:rPr>
              <a:t>Final status report at exit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120640"/>
            <a:ext cx="4023360" cy="1554480"/>
          </a:xfrm>
          <a:prstGeom prst="rect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230368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DF00"/>
                </a:solidFill>
                <a:latin typeface="Corbel"/>
              </a:rPr>
              <a:t>Lawful and proportionate targeting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orbel"/>
              </a:rPr>
              <a:t>Audience exclusions and limits are explained to UP. We avoid discriminatory or exploitative targeting.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0307" y="5120640"/>
            <a:ext cx="4023360" cy="1554480"/>
          </a:xfrm>
          <a:prstGeom prst="rect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78907" y="5230368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DF00"/>
                </a:solidFill>
                <a:latin typeface="Corbel"/>
              </a:rPr>
              <a:t>Immediate incident reporting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orbel"/>
              </a:rPr>
              <a:t>Account compromise, wrong publication or data loss is reported through the agreed escalation route straight away.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97696" y="5120640"/>
            <a:ext cx="4023360" cy="1554480"/>
          </a:xfrm>
          <a:prstGeom prst="rect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26296" y="5230368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DF00"/>
                </a:solidFill>
                <a:latin typeface="Corbel"/>
              </a:rPr>
              <a:t>Ethical research and listening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orbel"/>
              </a:rPr>
              <a:t>Monitoring uses lawful, licensed methods and respects POPIA, platform terms and copyright.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r>
              <a:t>Intellectual property and confidentiality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6126480" cy="4434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6126480" cy="640080"/>
          </a:xfrm>
          <a:prstGeom prst="rect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orbel"/>
              </a:rPr>
              <a:t>What UP owns</a:t>
            </a:r>
          </a:p>
        </p:txBody>
      </p:sp>
      <p:pic>
        <p:nvPicPr>
          <p:cNvPr id="7" name="Picture 6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76856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8720" y="224028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Advertising accounts, pixels and tags</a:t>
            </a:r>
          </a:p>
        </p:txBody>
      </p:sp>
      <p:pic>
        <p:nvPicPr>
          <p:cNvPr id="9" name="Picture 8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62072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8720" y="282549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Audiences and campaign history</a:t>
            </a:r>
          </a:p>
        </p:txBody>
      </p:sp>
      <p:pic>
        <p:nvPicPr>
          <p:cNvPr id="11" name="Picture 10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447288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88720" y="3410712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Analytics data, dashboards and research outputs</a:t>
            </a:r>
          </a:p>
        </p:txBody>
      </p:sp>
      <p:pic>
        <p:nvPicPr>
          <p:cNvPr id="13" name="Picture 12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32504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88720" y="3995928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Media plans, booking records and publisher evidence</a:t>
            </a:r>
          </a:p>
        </p:txBody>
      </p:sp>
      <p:pic>
        <p:nvPicPr>
          <p:cNvPr id="15" name="Picture 14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17720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88720" y="4581144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Source files and editable creative files</a:t>
            </a:r>
          </a:p>
        </p:txBody>
      </p:sp>
      <p:pic>
        <p:nvPicPr>
          <p:cNvPr id="17" name="Picture 16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02936"/>
            <a:ext cx="292608" cy="292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88720" y="516636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All intellectual property created under the contract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94575" y="1417320"/>
            <a:ext cx="6126480" cy="4434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94575" y="1417320"/>
            <a:ext cx="6126480" cy="640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orbel"/>
              </a:rPr>
              <a:t>What we will not do without written permission</a:t>
            </a:r>
          </a:p>
        </p:txBody>
      </p:sp>
      <p:pic>
        <p:nvPicPr>
          <p:cNvPr id="21" name="Picture 20" descr="times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5" y="2276856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580375" y="224028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Publish UP work as a case study</a:t>
            </a:r>
          </a:p>
        </p:txBody>
      </p:sp>
      <p:pic>
        <p:nvPicPr>
          <p:cNvPr id="23" name="Picture 22" descr="times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5" y="298094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80375" y="2944368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Enter UP work for awards</a:t>
            </a:r>
          </a:p>
        </p:txBody>
      </p:sp>
      <p:pic>
        <p:nvPicPr>
          <p:cNvPr id="25" name="Picture 24" descr="times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5" y="3685032"/>
            <a:ext cx="292608" cy="2926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580375" y="364845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Disclose results or use UP's name and marks</a:t>
            </a:r>
          </a:p>
        </p:txBody>
      </p:sp>
      <p:pic>
        <p:nvPicPr>
          <p:cNvPr id="27" name="Picture 26" descr="times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5" y="4389120"/>
            <a:ext cx="292608" cy="2926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580375" y="4352544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Use UP information for other clients or portfolio promotion</a:t>
            </a:r>
          </a:p>
        </p:txBody>
      </p:sp>
      <p:pic>
        <p:nvPicPr>
          <p:cNvPr id="29" name="Picture 28" descr="times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5" y="5093208"/>
            <a:ext cx="292608" cy="2926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80375" y="5056632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Use UP information for any unapproved purpose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035040"/>
            <a:ext cx="12518136" cy="640080"/>
          </a:xfrm>
          <a:prstGeom prst="rect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DF00"/>
                </a:solidFill>
                <a:latin typeface="Corbel"/>
              </a:rPr>
              <a:t>Files on request and at contract end:  </a:t>
            </a:r>
            <a:r>
              <a:rPr sz="1300" b="0" i="0">
                <a:solidFill>
                  <a:srgbClr val="FFFFFF"/>
                </a:solidFill>
                <a:latin typeface="Corbel"/>
              </a:rPr>
              <a:t>editable source files, media plans, dashboards and research outputs. Subcontractors are disclosed to UP and bound by the same confidentiality terms.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r>
              <a:t>Responsible AI: where we use it and where we do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4023360" cy="685800"/>
          </a:xfrm>
          <a:prstGeom prst="rect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" y="1634489"/>
            <a:ext cx="251460" cy="2514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25880" y="141732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rbel"/>
              </a:rPr>
              <a:t>Allowed, with human 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4023360" cy="2468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35661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Research summaries checked against sources</a:t>
            </a:r>
          </a:p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First drafts of copy variants, edited by a senior writer</a:t>
            </a:r>
          </a:p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Creative exploration and mood boards</a:t>
            </a:r>
          </a:p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Report summaries and anomaly checks, reviewed by the data lead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0307" y="1417320"/>
            <a:ext cx="4023360" cy="685800"/>
          </a:xfrm>
          <a:prstGeom prst="rect">
            <a:avLst/>
          </a:prstGeom>
          <a:solidFill>
            <a:srgbClr val="FFD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33188" y="1508760"/>
            <a:ext cx="502920" cy="502920"/>
          </a:xfrm>
          <a:prstGeom prst="ellips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ell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918" y="1634489"/>
            <a:ext cx="251460" cy="2514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73268" y="141732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14244"/>
                </a:solidFill>
                <a:latin typeface="Corbel"/>
              </a:rPr>
              <a:t>Needs UP approval first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0307" y="2103120"/>
            <a:ext cx="4023360" cy="2468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78907" y="2240280"/>
            <a:ext cx="35661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Any new tool or new use case</a:t>
            </a:r>
          </a:p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Any use involving UP data or UP prompts</a:t>
            </a:r>
          </a:p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AI-generated imagery in published work</a:t>
            </a:r>
          </a:p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AI used by subcontractors, trading desks or publishers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1417320"/>
            <a:ext cx="4023360" cy="685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80576" y="15087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ban_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6305" y="1634489"/>
            <a:ext cx="251460" cy="2514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820656" y="141732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rbel"/>
              </a:rPr>
              <a:t>Not allowed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97696" y="2103120"/>
            <a:ext cx="4023360" cy="2468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6296" y="2240280"/>
            <a:ext cx="35661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Putting personal or confidential UP information into public tools</a:t>
            </a:r>
          </a:p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Publishing claims, rankings, figures or quotes no person has verified</a:t>
            </a:r>
          </a:p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Using UP data to train vendor models</a:t>
            </a:r>
          </a:p>
          <a:p>
            <a:pPr algn="l" marL="182880" indent="-182880">
              <a:spcAft>
                <a:spcPts val="600"/>
              </a:spcAft>
              <a:buClr>
                <a:srgbClr val="C00000"/>
              </a:buClr>
              <a:buChar char="•"/>
            </a:pPr>
            <a:r>
              <a:rPr sz="1400" b="0" i="0">
                <a:solidFill>
                  <a:srgbClr val="2B2B2B"/>
                </a:solidFill>
                <a:latin typeface="Corbel"/>
              </a:rPr>
              <a:t>Replacing senior review or sign-off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091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14244"/>
                </a:solidFill>
                <a:latin typeface="Corbel"/>
              </a:rPr>
              <a:t>HOW A NEW AI USE IS APPROVED</a:t>
            </a:r>
          </a:p>
        </p:txBody>
      </p:sp>
      <p:sp>
        <p:nvSpPr>
          <p:cNvPr id="24" name="Pentagon 23"/>
          <p:cNvSpPr/>
          <p:nvPr/>
        </p:nvSpPr>
        <p:spPr>
          <a:xfrm>
            <a:off x="502920" y="4983480"/>
            <a:ext cx="3108960" cy="731520"/>
          </a:xfrm>
          <a:prstGeom prst="homePlat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FFD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414244"/>
                </a:solidFill>
                <a:latin typeface="Corbe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98348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orbel"/>
              </a:rPr>
              <a:t>Propose the use case</a:t>
            </a:r>
          </a:p>
        </p:txBody>
      </p:sp>
      <p:sp>
        <p:nvSpPr>
          <p:cNvPr id="27" name="Pentagon 26"/>
          <p:cNvSpPr/>
          <p:nvPr/>
        </p:nvSpPr>
        <p:spPr>
          <a:xfrm>
            <a:off x="3639311" y="4983480"/>
            <a:ext cx="3108960" cy="731520"/>
          </a:xfrm>
          <a:prstGeom prst="homePlat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76472" y="5120640"/>
            <a:ext cx="457200" cy="457200"/>
          </a:xfrm>
          <a:prstGeom prst="ellipse">
            <a:avLst/>
          </a:prstGeom>
          <a:solidFill>
            <a:srgbClr val="FFD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414244"/>
                </a:solidFill>
                <a:latin typeface="Corbe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1" y="498348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orbel"/>
              </a:rPr>
              <a:t>UP approves in writing</a:t>
            </a:r>
          </a:p>
        </p:txBody>
      </p:sp>
      <p:sp>
        <p:nvSpPr>
          <p:cNvPr id="30" name="Pentagon 29"/>
          <p:cNvSpPr/>
          <p:nvPr/>
        </p:nvSpPr>
        <p:spPr>
          <a:xfrm>
            <a:off x="6775703" y="4983480"/>
            <a:ext cx="3108960" cy="731520"/>
          </a:xfrm>
          <a:prstGeom prst="homePlat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12864" y="5120640"/>
            <a:ext cx="457200" cy="457200"/>
          </a:xfrm>
          <a:prstGeom prst="ellipse">
            <a:avLst/>
          </a:prstGeom>
          <a:solidFill>
            <a:srgbClr val="FFD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414244"/>
                </a:solidFill>
                <a:latin typeface="Corbe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07223" y="498348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orbel"/>
              </a:rPr>
              <a:t>Use with qualified human review</a:t>
            </a:r>
          </a:p>
        </p:txBody>
      </p:sp>
      <p:sp>
        <p:nvSpPr>
          <p:cNvPr id="33" name="Pentagon 32"/>
          <p:cNvSpPr/>
          <p:nvPr/>
        </p:nvSpPr>
        <p:spPr>
          <a:xfrm>
            <a:off x="9912096" y="4983480"/>
            <a:ext cx="3108960" cy="731520"/>
          </a:xfrm>
          <a:prstGeom prst="homePlat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49256" y="5120640"/>
            <a:ext cx="457200" cy="457200"/>
          </a:xfrm>
          <a:prstGeom prst="ellipse">
            <a:avLst/>
          </a:prstGeom>
          <a:solidFill>
            <a:srgbClr val="FFD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414244"/>
                </a:solidFill>
                <a:latin typeface="Corbe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43616" y="498348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orbel"/>
              </a:rPr>
              <a:t>Log, disclose and audit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897880"/>
            <a:ext cx="1251813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14244"/>
                </a:solidFill>
                <a:latin typeface="Corbel"/>
              </a:rPr>
              <a:t>Tools in scope: </a:t>
            </a:r>
            <a:r>
              <a:rPr sz="1300" b="0" i="0">
                <a:solidFill>
                  <a:srgbClr val="2B2B2B"/>
                </a:solidFill>
                <a:latin typeface="Corbel"/>
              </a:rPr>
              <a:t>Gemini and Midjourney for exploration, Canva and Adobe Creative Cloud for production. Appendix H records the provider, hosting and licence terms of each tool, and the qualified reviewer for each use.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r>
              <a:t>Conflicts of interest and risk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4023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414244"/>
                </a:solidFill>
                <a:latin typeface="Corbel"/>
              </a:rPr>
              <a:t>Conflicts of interest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orbel"/>
              </a:rPr>
              <a:t>We disclose current and expected work for South African universities, international higher-education competitors, student-recruitment platforms and media partners.</a:t>
            </a:r>
          </a:p>
        </p:txBody>
      </p:sp>
      <p:sp>
        <p:nvSpPr>
          <p:cNvPr id="6" name="Pentagon 5"/>
          <p:cNvSpPr/>
          <p:nvPr/>
        </p:nvSpPr>
        <p:spPr>
          <a:xfrm>
            <a:off x="4754880" y="1463040"/>
            <a:ext cx="2011680" cy="566928"/>
          </a:xfrm>
          <a:prstGeom prst="homePlat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orbel"/>
              </a:rPr>
              <a:t>1  Declare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10312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orbel"/>
              </a:rPr>
              <a:t>Before submission and whenever it changes</a:t>
            </a:r>
          </a:p>
        </p:txBody>
      </p:sp>
      <p:sp>
        <p:nvSpPr>
          <p:cNvPr id="8" name="Pentagon 7"/>
          <p:cNvSpPr/>
          <p:nvPr/>
        </p:nvSpPr>
        <p:spPr>
          <a:xfrm>
            <a:off x="6830568" y="1463040"/>
            <a:ext cx="2011680" cy="566928"/>
          </a:xfrm>
          <a:prstGeom prst="homePlat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orbel"/>
              </a:rPr>
              <a:t>2  Assess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0568" y="210312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orbel"/>
              </a:rPr>
              <a:t>With UP, against the options for mitigation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8906256" y="1463040"/>
            <a:ext cx="2011680" cy="566928"/>
          </a:xfrm>
          <a:prstGeom prst="homePlat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orbel"/>
              </a:rPr>
              <a:t>3  Separate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06256" y="210312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orbel"/>
              </a:rPr>
              <a:t>Accounts, people and information, if UP asks</a:t>
            </a:r>
          </a:p>
        </p:txBody>
      </p:sp>
      <p:sp>
        <p:nvSpPr>
          <p:cNvPr id="12" name="Pentagon 11"/>
          <p:cNvSpPr/>
          <p:nvPr/>
        </p:nvSpPr>
        <p:spPr>
          <a:xfrm>
            <a:off x="10981944" y="1463040"/>
            <a:ext cx="2011680" cy="566928"/>
          </a:xfrm>
          <a:prstGeom prst="homePlat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orbel"/>
              </a:rPr>
              <a:t>4 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1944" y="210312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orbel"/>
              </a:rPr>
              <a:t>Revisited at each annual plan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2971800"/>
          <a:ext cx="12518136" cy="35661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34640"/>
                <a:gridCol w="2926080"/>
                <a:gridCol w="4480560"/>
                <a:gridCol w="2276856"/>
              </a:tblGrid>
              <a:tr h="411480"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orbel"/>
                        </a:rPr>
                        <a:t>Risk</a:t>
                      </a:r>
                    </a:p>
                  </a:txBody>
                  <a:tcPr marL="109728" marR="109728" marT="36576" marB="36576" anchor="ctr">
                    <a:solidFill>
                      <a:srgbClr val="414244"/>
                    </a:solidFill>
                  </a:tcPr>
                </a:tc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orbel"/>
                        </a:rPr>
                        <a:t>Early warning</a:t>
                      </a:r>
                    </a:p>
                  </a:txBody>
                  <a:tcPr marL="109728" marR="109728" marT="36576" marB="36576" anchor="ctr">
                    <a:solidFill>
                      <a:srgbClr val="414244"/>
                    </a:solidFill>
                  </a:tcPr>
                </a:tc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orbel"/>
                        </a:rPr>
                        <a:t>Control</a:t>
                      </a:r>
                    </a:p>
                  </a:txBody>
                  <a:tcPr marL="109728" marR="109728" marT="36576" marB="36576" anchor="ctr">
                    <a:solidFill>
                      <a:srgbClr val="414244"/>
                    </a:solidFill>
                  </a:tcPr>
                </a:tc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orbel"/>
                        </a:rPr>
                        <a:t>Owner (role)</a:t>
                      </a:r>
                    </a:p>
                  </a:txBody>
                  <a:tcPr marL="109728" marR="109728" marT="36576" marB="36576" anchor="ctr">
                    <a:solidFill>
                      <a:srgbClr val="414244"/>
                    </a:solidFill>
                  </a:tcPr>
                </a:tc>
              </a:tr>
              <a:tr h="525780"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414244"/>
                          </a:solidFill>
                          <a:latin typeface="Corbel"/>
                        </a:rPr>
                        <a:t>Unsuitable media placement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orbel"/>
                        </a:rPr>
                        <a:t>Brand-safety flags, invalid traffic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orbel"/>
                        </a:rPr>
                        <a:t>Exclusion lists, placement pre-approval, monitoring during the campaign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orbel"/>
                        </a:rPr>
                        <a:t>Paid-media director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414244"/>
                          </a:solidFill>
                          <a:latin typeface="Corbel"/>
                        </a:rPr>
                        <a:t>Inaccurate claim or fact</a:t>
                      </a:r>
                    </a:p>
                  </a:txBody>
                  <a:tcPr marL="109728" marR="109728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orbel"/>
                        </a:rPr>
                        <a:t>An unsourced figure or ranking</a:t>
                      </a:r>
                    </a:p>
                  </a:txBody>
                  <a:tcPr marL="109728" marR="109728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orbel"/>
                        </a:rPr>
                        <a:t>Fact-check log and senior sign-off</a:t>
                      </a:r>
                    </a:p>
                  </a:txBody>
                  <a:tcPr marL="109728" marR="109728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orbel"/>
                        </a:rPr>
                        <a:t>Senior copywriter</a:t>
                      </a:r>
                    </a:p>
                  </a:txBody>
                  <a:tcPr marL="109728" marR="109728" marT="36576" marB="36576" anchor="ctr">
                    <a:solidFill>
                      <a:srgbClr val="F2F2F2"/>
                    </a:solidFill>
                  </a:tcPr>
                </a:tc>
              </a:tr>
              <a:tr h="525780"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414244"/>
                          </a:solidFill>
                          <a:latin typeface="Corbel"/>
                        </a:rPr>
                        <a:t>Overspend or unapproved change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orbel"/>
                        </a:rPr>
                        <a:t>Pacing drifts from plan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orbel"/>
                        </a:rPr>
                        <a:t>Written approval, reconciliation, pre-agreed tolerance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orbel"/>
                        </a:rPr>
                        <a:t>Account director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414244"/>
                          </a:solidFill>
                          <a:latin typeface="Corbel"/>
                        </a:rPr>
                        <a:t>Tracking failure</a:t>
                      </a:r>
                    </a:p>
                  </a:txBody>
                  <a:tcPr marL="109728" marR="109728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orbel"/>
                        </a:rPr>
                        <a:t>Conversion gaps, broken links</a:t>
                      </a:r>
                    </a:p>
                  </a:txBody>
                  <a:tcPr marL="109728" marR="109728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orbel"/>
                        </a:rPr>
                        <a:t>Link and tag tests before and after launch</a:t>
                      </a:r>
                    </a:p>
                  </a:txBody>
                  <a:tcPr marL="109728" marR="109728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orbel"/>
                        </a:rPr>
                        <a:t>Data and reporting lead</a:t>
                      </a:r>
                    </a:p>
                  </a:txBody>
                  <a:tcPr marL="109728" marR="109728" marT="36576" marB="36576" anchor="ctr">
                    <a:solidFill>
                      <a:srgbClr val="F2F2F2"/>
                    </a:solidFill>
                  </a:tcPr>
                </a:tc>
              </a:tr>
              <a:tr h="525780"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414244"/>
                          </a:solidFill>
                          <a:latin typeface="Corbel"/>
                        </a:rPr>
                        <a:t>Data or account incident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orbel"/>
                        </a:rPr>
                        <a:t>Unrecognised access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orbel"/>
                        </a:rPr>
                        <a:t>Multi-factor authentication, immediate report to UP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orbel"/>
                        </a:rPr>
                        <a:t>Account director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414244"/>
                          </a:solidFill>
                          <a:latin typeface="Corbel"/>
                        </a:rPr>
                        <a:t>Key personnel change</a:t>
                      </a:r>
                    </a:p>
                  </a:txBody>
                  <a:tcPr marL="109728" marR="109728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orbel"/>
                        </a:rPr>
                        <a:t>Leave or resignation</a:t>
                      </a:r>
                    </a:p>
                  </a:txBody>
                  <a:tcPr marL="109728" marR="109728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orbel"/>
                        </a:rPr>
                        <a:t>Named back-ups, briefed at our cost</a:t>
                      </a:r>
                    </a:p>
                  </a:txBody>
                  <a:tcPr marL="109728" marR="109728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 lIns="109728" rIns="109728" tIns="0" bIns="0" anchor="t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orbel"/>
                        </a:rPr>
                        <a:t>Account director</a:t>
                      </a:r>
                    </a:p>
                  </a:txBody>
                  <a:tcPr marL="109728" marR="109728" marT="36576" marB="36576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r>
              <a:t>Escalation, service standards and quality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14244"/>
                </a:solidFill>
                <a:latin typeface="Corbel"/>
              </a:rPr>
              <a:t>ESCALATION LADDER WITH INDICATIVE RESPONSE TIMES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063240"/>
            <a:ext cx="2148840" cy="35661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246120"/>
            <a:ext cx="17830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00000"/>
                </a:solidFill>
                <a:latin typeface="Corbel"/>
              </a:rPr>
              <a:t>LEVEL 1  Day to day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414244"/>
                </a:solidFill>
                <a:latin typeface="Corbel"/>
              </a:rPr>
              <a:t>Dedicated account director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14244"/>
                </a:solidFill>
                <a:latin typeface="Corbel"/>
              </a:rPr>
              <a:t>Brief acknowledged within 5 business hours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423160"/>
            <a:ext cx="2148840" cy="4206240"/>
          </a:xfrm>
          <a:prstGeom prst="rect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606040"/>
            <a:ext cx="178308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DF00"/>
                </a:solidFill>
                <a:latin typeface="Corbel"/>
              </a:rPr>
              <a:t>LEVEL 2  Urgent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orbel"/>
              </a:rPr>
              <a:t>Senior strategic lead and paid-media director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orbel"/>
              </a:rPr>
              <a:t>Immediate acknowledgement. Response plan within 2 hours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783080"/>
            <a:ext cx="2148840" cy="48463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1965960"/>
            <a:ext cx="17830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DF00"/>
                </a:solidFill>
                <a:latin typeface="Corbel"/>
              </a:rPr>
              <a:t>LEVEL 3  Critical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orbel"/>
              </a:rPr>
              <a:t>Our executive sponsor with UP's contract owner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orbel"/>
              </a:rPr>
              <a:t>Containment as soon as reasonably possible. Written incident note within 1 business 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417320"/>
            <a:ext cx="5522976" cy="41605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1554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14244"/>
                </a:solidFill>
                <a:latin typeface="Corbel"/>
              </a:rPr>
              <a:t>Checked before anything reaches UP</a:t>
            </a:r>
          </a:p>
        </p:txBody>
      </p:sp>
      <p:pic>
        <p:nvPicPr>
          <p:cNvPr id="14" name="Picture 13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2130551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83879" y="210312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Strategic review against the brief and objective</a:t>
            </a:r>
          </a:p>
        </p:txBody>
      </p:sp>
      <p:pic>
        <p:nvPicPr>
          <p:cNvPr id="16" name="Picture 15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2697479"/>
            <a:ext cx="292608" cy="292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83879" y="2670048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Fact-check of names, dates, figures and sources</a:t>
            </a:r>
          </a:p>
        </p:txBody>
      </p:sp>
      <p:pic>
        <p:nvPicPr>
          <p:cNvPr id="18" name="Picture 17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3264408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83879" y="323697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Copyedit and proofread</a:t>
            </a:r>
          </a:p>
        </p:txBody>
      </p:sp>
      <p:pic>
        <p:nvPicPr>
          <p:cNvPr id="20" name="Picture 19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3831336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83879" y="3803904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Link, UTM and tracking tests before and after launch</a:t>
            </a:r>
          </a:p>
        </p:txBody>
      </p:sp>
      <p:pic>
        <p:nvPicPr>
          <p:cNvPr id="22" name="Picture 21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4398264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83879" y="4370831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Accessibility and corporate identity check</a:t>
            </a:r>
          </a:p>
        </p:txBody>
      </p:sp>
      <p:pic>
        <p:nvPicPr>
          <p:cNvPr id="24" name="Picture 23" descr="chec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4965192"/>
            <a:ext cx="292608" cy="2926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183879" y="49377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Senior sign-off before submission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5715000"/>
            <a:ext cx="5522976" cy="914400"/>
          </a:xfrm>
          <a:prstGeom prst="rect">
            <a:avLst/>
          </a:prstGeom>
          <a:solidFill>
            <a:srgbClr val="FFD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414244"/>
                </a:solidFill>
                <a:latin typeface="Corbel"/>
              </a:rPr>
              <a:t>Our errors are never charged as extra revisions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14244"/>
                </a:solidFill>
                <a:latin typeface="Corbel"/>
              </a:rPr>
              <a:t>Corrections caused by our mistakes, or by missing the brief, are ours to fix at no cost.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r>
              <a:t>How this starts: the first 100 days</a:t>
            </a:r>
          </a:p>
        </p:txBody>
      </p:sp>
      <p:sp>
        <p:nvSpPr>
          <p:cNvPr id="5" name="Pentagon 4"/>
          <p:cNvSpPr/>
          <p:nvPr/>
        </p:nvSpPr>
        <p:spPr>
          <a:xfrm>
            <a:off x="2240280" y="1417320"/>
            <a:ext cx="2560320" cy="640080"/>
          </a:xfrm>
          <a:prstGeom prst="homePlat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orbel"/>
              </a:rPr>
              <a:t>Days 1 to 15</a:t>
            </a:r>
          </a:p>
        </p:txBody>
      </p:sp>
      <p:sp>
        <p:nvSpPr>
          <p:cNvPr id="6" name="Pentagon 5"/>
          <p:cNvSpPr/>
          <p:nvPr/>
        </p:nvSpPr>
        <p:spPr>
          <a:xfrm>
            <a:off x="4892040" y="1417320"/>
            <a:ext cx="2560320" cy="640080"/>
          </a:xfrm>
          <a:prstGeom prst="homePlat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orbel"/>
              </a:rPr>
              <a:t>Days 15 to 30</a:t>
            </a:r>
          </a:p>
        </p:txBody>
      </p:sp>
      <p:sp>
        <p:nvSpPr>
          <p:cNvPr id="7" name="Pentagon 6"/>
          <p:cNvSpPr/>
          <p:nvPr/>
        </p:nvSpPr>
        <p:spPr>
          <a:xfrm>
            <a:off x="7543800" y="1417320"/>
            <a:ext cx="2560320" cy="640080"/>
          </a:xfrm>
          <a:prstGeom prst="homePlate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orbel"/>
              </a:rPr>
              <a:t>Days 31 to 60</a:t>
            </a:r>
          </a:p>
        </p:txBody>
      </p:sp>
      <p:sp>
        <p:nvSpPr>
          <p:cNvPr id="8" name="Pentagon 7"/>
          <p:cNvSpPr/>
          <p:nvPr/>
        </p:nvSpPr>
        <p:spPr>
          <a:xfrm>
            <a:off x="10195559" y="1417320"/>
            <a:ext cx="2560320" cy="640080"/>
          </a:xfrm>
          <a:prstGeom prst="homePlat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orbel"/>
              </a:rPr>
              <a:t>Days 61 to 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94560"/>
            <a:ext cx="1645920" cy="1783080"/>
          </a:xfrm>
          <a:prstGeom prst="rect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42316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" y="2628900"/>
            <a:ext cx="411480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33832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orbel"/>
              </a:rPr>
              <a:t>Measurement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2194560"/>
            <a:ext cx="2560320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Confirm KPIs, objectives and baselines. Review current tags and accounts.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2194560"/>
            <a:ext cx="2560320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Tracking and paid-media audit. Reporting baseline agreed.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2194560"/>
            <a:ext cx="2560320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Executive dashboard live. Monthly report template signed off.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95559" y="2194560"/>
            <a:ext cx="2560320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First quarterly strategic review and testing roadmap.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069079"/>
            <a:ext cx="1645920" cy="1783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297679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hield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4503419"/>
            <a:ext cx="411480" cy="4114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4360" y="5257799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orbel"/>
              </a:rPr>
              <a:t>Governance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80" y="4069079"/>
            <a:ext cx="2560320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Contract, SLA and confidentiality signed. Named users, MFA and access set up.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92040" y="4069079"/>
            <a:ext cx="2560320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Risk register and escalation route agreed. AI tool list approved.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43800" y="4069079"/>
            <a:ext cx="2560320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Approval routes and quality checklist running on live work.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95559" y="4069079"/>
            <a:ext cx="2560320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orbel"/>
              </a:rPr>
              <a:t>Service-level review with UP. Knowledge-transfer session.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035040"/>
            <a:ext cx="125181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14244"/>
                </a:solidFill>
                <a:latin typeface="Corbel"/>
              </a:rPr>
              <a:t>This follows the mobilisation and onboarding requirements in Appendix I of the tender.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r>
              <a:t>What UP gains from this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2834640" cy="4206240"/>
          </a:xfrm>
          <a:prstGeom prst="rect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DF00"/>
                </a:solidFill>
                <a:latin typeface="Corbel"/>
              </a:rPr>
              <a:t>01</a:t>
            </a:r>
          </a:p>
        </p:txBody>
      </p:sp>
      <p:sp>
        <p:nvSpPr>
          <p:cNvPr id="7" name="Oval 6"/>
          <p:cNvSpPr/>
          <p:nvPr/>
        </p:nvSpPr>
        <p:spPr>
          <a:xfrm>
            <a:off x="2286000" y="169164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874520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4320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orbel"/>
              </a:rPr>
              <a:t>One set of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11880"/>
            <a:ext cx="2286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orbel"/>
              </a:rPr>
              <a:t>Platform, analytics and publisher data sit in one checked model and are reported the same way every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0752" y="1463040"/>
            <a:ext cx="2834640" cy="4206240"/>
          </a:xfrm>
          <a:prstGeom prst="rect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5072" y="1645920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DF00"/>
                </a:solidFill>
                <a:latin typeface="Corbel"/>
              </a:rPr>
              <a:t>02</a:t>
            </a:r>
          </a:p>
        </p:txBody>
      </p:sp>
      <p:sp>
        <p:nvSpPr>
          <p:cNvPr id="13" name="Oval 12"/>
          <p:cNvSpPr/>
          <p:nvPr/>
        </p:nvSpPr>
        <p:spPr>
          <a:xfrm>
            <a:off x="5513831" y="169164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alanc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1874520"/>
            <a:ext cx="365760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005072" y="274320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orbel"/>
              </a:rPr>
              <a:t>Honest attribution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2" y="3611880"/>
            <a:ext cx="2286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orbel"/>
              </a:rPr>
              <a:t>Direct results, contribution and limits are labelled, so decisions rest on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58583" y="1463040"/>
            <a:ext cx="2834640" cy="4206240"/>
          </a:xfrm>
          <a:prstGeom prst="rect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2903" y="1645920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DF00"/>
                </a:solidFill>
                <a:latin typeface="Corbel"/>
              </a:rPr>
              <a:t>03</a:t>
            </a:r>
          </a:p>
        </p:txBody>
      </p:sp>
      <p:sp>
        <p:nvSpPr>
          <p:cNvPr id="19" name="Oval 18"/>
          <p:cNvSpPr/>
          <p:nvPr/>
        </p:nvSpPr>
        <p:spPr>
          <a:xfrm>
            <a:off x="8741663" y="169164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ke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3" y="1874520"/>
            <a:ext cx="365760" cy="365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32903" y="274320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orbel"/>
              </a:rPr>
              <a:t>UP in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2903" y="3611880"/>
            <a:ext cx="2286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orbel"/>
              </a:rPr>
              <a:t>UP owns every account, file and dataset and can take them over at any 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86416" y="1463040"/>
            <a:ext cx="2834640" cy="4206240"/>
          </a:xfrm>
          <a:prstGeom prst="rect">
            <a:avLst/>
          </a:prstGeom>
          <a:solidFill>
            <a:srgbClr val="41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60736" y="1645920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DF00"/>
                </a:solidFill>
                <a:latin typeface="Corbel"/>
              </a:rPr>
              <a:t>04</a:t>
            </a:r>
          </a:p>
        </p:txBody>
      </p:sp>
      <p:sp>
        <p:nvSpPr>
          <p:cNvPr id="25" name="Oval 24"/>
          <p:cNvSpPr/>
          <p:nvPr/>
        </p:nvSpPr>
        <p:spPr>
          <a:xfrm>
            <a:off x="11969496" y="169164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obo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52376" y="1874520"/>
            <a:ext cx="365760" cy="3657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460736" y="274320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orbel"/>
              </a:rPr>
              <a:t>AI with oversight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0736" y="3611880"/>
            <a:ext cx="2286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orbel"/>
              </a:rPr>
              <a:t>Every AI use is disclosed, approved and reviewed by a qualified person.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897880"/>
            <a:ext cx="12518136" cy="731520"/>
          </a:xfrm>
          <a:prstGeom prst="rect">
            <a:avLst/>
          </a:prstGeom>
          <a:solidFill>
            <a:srgbClr val="FFD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14244"/>
                </a:solidFill>
                <a:latin typeface="Corbel"/>
              </a:rPr>
              <a:t>Result:  </a:t>
            </a:r>
            <a:r>
              <a:rPr sz="1600" b="0" i="0">
                <a:solidFill>
                  <a:srgbClr val="414244"/>
                </a:solidFill>
                <a:latin typeface="Corbel"/>
              </a:rPr>
              <a:t>measurement the University can trust, run by a partner it can hold to account.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G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-Trebuchet M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FED2079-1E77-A247-BD23-44E1247C5A6B}" vid="{00214254-5B8D-634A-81EE-80488BA2D1F3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11342</TotalTime>
  <Words>397</Words>
  <Application>Microsoft Macintosh PowerPoint</Application>
  <PresentationFormat>Custom</PresentationFormat>
  <Paragraphs>53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Corbel</vt:lpstr>
      <vt:lpstr>Helvetica Neue</vt:lpstr>
      <vt:lpstr>IBM Plex Sans</vt:lpstr>
      <vt:lpstr>Poppins</vt:lpstr>
      <vt:lpstr>Poppins Medium</vt:lpstr>
      <vt:lpstr>Trebuchet MS</vt:lpstr>
      <vt:lpstr>BLG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GSA SM Report</dc:title>
  <dc:creator>Gloria Masia</dc:creator>
  <cp:lastModifiedBy>Siya Mabiza</cp:lastModifiedBy>
  <cp:revision>74</cp:revision>
  <dcterms:modified xsi:type="dcterms:W3CDTF">2026-10-14T09:42:03Z</dcterms:modified>
</cp:coreProperties>
</file>